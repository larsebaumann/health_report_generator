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621"/>
    <p:restoredTop sz="94610"/>
  </p:normalViewPr>
  <p:slideViewPr>
    <p:cSldViewPr snapToGrid="0" snapToObjects="1">
      <p:cViewPr varScale="1">
        <p:scale>
          <a:sx n="144" d="100"/>
          <a:sy n="144" d="100"/>
        </p:scale>
        <p:origin x="3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Checks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DAE3B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1-BC56-4403-8EC5-603842FCD2D1}"/>
              </c:ext>
            </c:extLst>
          </c:dPt>
          <c:dPt>
            <c:idx val="1"/>
            <c:bubble3D val="0"/>
            <c:spPr>
              <a:solidFill>
                <a:srgbClr val="C5CED9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3-BC56-4403-8EC5-603842FCD2D1}"/>
              </c:ext>
            </c:extLst>
          </c:dPt>
          <c:dPt>
            <c:idx val="2"/>
            <c:bubble3D val="0"/>
            <c:spPr>
              <a:solidFill>
                <a:srgbClr val="F2B33D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5-BC56-4403-8EC5-603842FCD2D1}"/>
              </c:ext>
            </c:extLst>
          </c:dPt>
          <c:dPt>
            <c:idx val="3"/>
            <c:bubble3D val="0"/>
            <c:spPr>
              <a:solidFill>
                <a:srgbClr val="D64545"/>
              </a:solidFill>
              <a:ln w="12700" cap="flat">
                <a:solidFill>
                  <a:srgbClr val="FFFFFF"/>
                </a:solidFill>
                <a:prstDash val="solid"/>
                <a:round/>
              </a:ln>
              <a:effectLst/>
            </c:spPr>
            <c:extLst>
              <c:ext xmlns:c16="http://schemas.microsoft.com/office/drawing/2014/chart" uri="{C3380CC4-5D6E-409C-BE32-E72D297353CC}">
                <c16:uniqueId val="{00000007-BC56-4403-8EC5-603842FCD2D1}"/>
              </c:ext>
            </c:extLst>
          </c:dPt>
          <c:cat>
            <c:strRef>
              <c:f>Sheet1!$A$2:$A$5</c:f>
              <c:strCache>
                <c:ptCount val="4"/>
                <c:pt idx="0">
                  <c:v>Passed</c:v>
                </c:pt>
                <c:pt idx="1">
                  <c:v>Skipped</c:v>
                </c:pt>
                <c:pt idx="2">
                  <c:v>Warnings</c:v>
                </c:pt>
                <c:pt idx="3">
                  <c:v>Failed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347</c:v>
                </c:pt>
                <c:pt idx="1">
                  <c:v>21</c:v>
                </c:pt>
                <c:pt idx="2">
                  <c:v>2</c:v>
                </c:pt>
                <c:pt idx="3">
                  <c:v>1E-4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BC56-4403-8EC5-603842FCD2D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× usual</c:v>
                </c:pt>
              </c:strCache>
            </c:strRef>
          </c:tx>
          <c:spPr>
            <a:solidFill>
              <a:srgbClr val="D64545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519F-4578-A4C7-F1E0C670A076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519F-4578-A4C7-F1E0C670A076}"/>
              </c:ext>
            </c:extLst>
          </c:dPt>
          <c:dPt>
            <c:idx val="2"/>
            <c:invertIfNegative val="0"/>
            <c:bubble3D val="0"/>
            <c:spPr>
              <a:solidFill>
                <a:srgbClr val="E8862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19F-4578-A4C7-F1E0C670A076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519F-4578-A4C7-F1E0C670A076}"/>
              </c:ext>
            </c:extLst>
          </c:dPt>
          <c:dPt>
            <c:idx val="4"/>
            <c:invertIfNegative val="0"/>
            <c:bubble3D val="0"/>
            <c:spPr>
              <a:solidFill>
                <a:srgbClr val="E8862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519F-4578-A4C7-F1E0C670A076}"/>
              </c:ext>
            </c:extLst>
          </c:dPt>
          <c:dPt>
            <c:idx val="5"/>
            <c:invertIfNegative val="0"/>
            <c:bubble3D val="0"/>
            <c:spPr>
              <a:solidFill>
                <a:srgbClr val="E8862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519F-4578-A4C7-F1E0C670A076}"/>
              </c:ext>
            </c:extLst>
          </c:dPt>
          <c:dLbls>
            <c:numFmt formatCode="0.0&quot;×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1F2937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Influenza (wk 39)</c:v>
                </c:pt>
                <c:pt idx="1">
                  <c:v>EHEC (Aug)</c:v>
                </c:pt>
                <c:pt idx="2">
                  <c:v>Hepatitis A (Aug)</c:v>
                </c:pt>
                <c:pt idx="3">
                  <c:v>Campylobacter (Aug)</c:v>
                </c:pt>
                <c:pt idx="4">
                  <c:v>Shigellosis (Aug)</c:v>
                </c:pt>
                <c:pt idx="5">
                  <c:v>Acute resp. infection (wk 39)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</c:v>
                </c:pt>
                <c:pt idx="1">
                  <c:v>1.65</c:v>
                </c:pt>
                <c:pt idx="2">
                  <c:v>1.45</c:v>
                </c:pt>
                <c:pt idx="3">
                  <c:v>1.35</c:v>
                </c:pt>
                <c:pt idx="4">
                  <c:v>1.35</c:v>
                </c:pt>
                <c:pt idx="5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C-519F-4578-A4C7-F1E0C670A07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5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F29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5.8"/>
          <c:min val="0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49062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[0:00–0:20]
"Every reporting cycle, the same surveillance data has to answer very different questions. We built the Health Report Generator: one dataset, every stakeholder's answer — one click each."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[0:20–0:55]
"The same data serves very different people. Public health officials ask: what needs attention now? Researchers ask: can I trust and re-run this? Today each version is rebuilt by hand, so numbers drift and nobody can trace a chart back to its data.
We built the two highlighted audiences. The greyed ones — cantonal offices, clinicians, the public — are where the design pays off: each is a new report template on the same cleaned table, not a new pipeline."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[0:55–1:25]
"Our input is open FOPH surveillance data: 37 downloaded files, of which 17 were byte-identical duplicates the pipeline detects and skips. That leaves 20 datasets, harmonised into one table of 376,588 rows, 2013 to September 2026.
Left to right: a weekly GitHub Actions job fetches the exports, we snapshot them with SHA-256 checksums, harmonise, run a quality gate, then Quarto renders one report per audience. Both reports read the same table, so they can't disagree."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[1:25–1:55]
"Before anything is analysed, 370 checks run on every dataset. A failure stops the build — a broken input can't reach a report. Today: 347 passed, 21 skipped because they didn't apply — and we report skipped as skipped, never as passed — 2 explained wastewater warnings, zero failures.
And every report carries a machine-readable provenance record: source, retrieval date, checksums, filters, commit, software versions, render time. Embedded in the HTML and downloadable as JSON."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[1:55–2:25]
"The entry point is one web page asking one question: who are you? Public health officials get levels at a glance, trends for anything flagged, cantons and burden versus last year. Researchers get coverage, every quality check, methods, long-term trends, and the code under every chart.
And the data says something real: 6 of 16 indicators are above their usual level. The story is food-borne — EHEC and Campylobacter at a ten-year August high, up about a quarter year to date. Influenza's 'record' is 53 off-season cases: an early signal, not an outbreak. Let me show you."
CHECK: EHEC/Campylobacter values from your report; ratios on chart are approximations from "about X% above usual".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[2:25–4:15 · switch to browser — tabs pre-opened]
1) Web page: "one question, two buttons." (10s)
2) Public health report: summary cards, level table, hover one trend chart, canton chart. (35s)
3) Researcher report: quality-check table, methods, expand one "Show code". (35s)
4) End of a report: provenance table, download JSON. (20s)
5) Optional if time: Marimo panel / Actions run — say if it's a completed run. (10s)
Backup: local HTML copies if Wi-Fi fails.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[4:15–4:35]
"We say the limits before you ask: reported cases aren't all infections, there's no statistical testing — small counts can flip a level — and this is a prototype, not FOPH guidance. All of this is written in the reports. Next: wastewater and lab positivity as early warning, more audiences, and reports in German, French and Italian."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[4:35–5:00]
"One table feeds every report, so they agree. A new audience is a new template, not a new pipeline. And every report states which data, code and settings produced it. We're Lars, Lavanya and [name] — the repo is on screen. Thank you — questions?"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19088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A9B4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Report Generator · Hackathon 4 Oct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"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A0C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12" Type="http://schemas.openxmlformats.org/officeDocument/2006/relationships/image" Target="../media/image1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9.png"/><Relationship Id="rId9" Type="http://schemas.openxmlformats.org/officeDocument/2006/relationships/image" Target="../media/image1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chart" Target="../charts/char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chart" Target="../charts/chart2.xml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Relationship Id="rId9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13.png"/><Relationship Id="rId4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594360" y="818869"/>
            <a:ext cx="60350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dataset.</a:t>
            </a:r>
            <a:endParaRPr lang="en-US" sz="4200" dirty="0"/>
          </a:p>
          <a:p>
            <a:pPr marL="0" indent="0">
              <a:lnSpc>
                <a:spcPct val="95000"/>
              </a:lnSpc>
              <a:buNone/>
            </a:pPr>
            <a:r>
              <a:rPr lang="en-US" sz="4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stakeholder</a:t>
            </a:r>
            <a:r>
              <a:rPr lang="en-DE" sz="4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endParaRPr lang="en-US" sz="4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293131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Swiss infectious-disease surveillance data, turned into a report for each audience</a:t>
            </a:r>
            <a:r>
              <a:rPr lang="en-DE" sz="18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457200" y="4114800"/>
            <a:ext cx="2514600" cy="868680"/>
          </a:xfrm>
          <a:prstGeom prst="roundRect">
            <a:avLst>
              <a:gd name="adj" fmla="val 12632"/>
            </a:avLst>
          </a:prstGeom>
          <a:solidFill>
            <a:srgbClr val="FCE7D6"/>
          </a:solidFill>
          <a:ln w="28575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6" name="Text 4"/>
          <p:cNvSpPr txBox="1"/>
          <p:nvPr/>
        </p:nvSpPr>
        <p:spPr>
          <a:xfrm>
            <a:off x="621792" y="4206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E8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health officials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45537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needs attention now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83280" y="4114800"/>
            <a:ext cx="2514600" cy="868680"/>
          </a:xfrm>
          <a:prstGeom prst="roundRect">
            <a:avLst>
              <a:gd name="adj" fmla="val 12632"/>
            </a:avLst>
          </a:prstGeom>
          <a:solidFill>
            <a:srgbClr val="D6E4F7"/>
          </a:solidFill>
          <a:ln w="28575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9" name="Text 7"/>
          <p:cNvSpPr txBox="1"/>
          <p:nvPr/>
        </p:nvSpPr>
        <p:spPr>
          <a:xfrm>
            <a:off x="3547872" y="42062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2F6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547872" y="4553712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 trust and re-run it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2971800" y="43251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457200" y="5349240"/>
            <a:ext cx="1417320" cy="32918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12700">
            <a:solidFill>
              <a:srgbClr val="D7DFEA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3" name="Text 11"/>
          <p:cNvSpPr txBox="1"/>
          <p:nvPr/>
        </p:nvSpPr>
        <p:spPr>
          <a:xfrm>
            <a:off x="457200" y="5349240"/>
            <a:ext cx="1417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FOPH open data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1984248" y="534924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12700">
            <a:solidFill>
              <a:srgbClr val="D7DFEA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5" name="Text 13"/>
          <p:cNvSpPr txBox="1"/>
          <p:nvPr/>
        </p:nvSpPr>
        <p:spPr>
          <a:xfrm>
            <a:off x="1984248" y="534924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Snakemake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191256" y="534924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12700">
            <a:solidFill>
              <a:srgbClr val="D7DFEA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7" name="Text 15"/>
          <p:cNvSpPr txBox="1"/>
          <p:nvPr/>
        </p:nvSpPr>
        <p:spPr>
          <a:xfrm>
            <a:off x="3225747" y="534603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Quarto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169664" y="534924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12700">
            <a:solidFill>
              <a:srgbClr val="D7DFEA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9" name="Text 17"/>
          <p:cNvSpPr txBox="1"/>
          <p:nvPr/>
        </p:nvSpPr>
        <p:spPr>
          <a:xfrm>
            <a:off x="4169664" y="534924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</a:t>
            </a: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Actions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50992" y="534924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F1F5FB"/>
          </a:solidFill>
          <a:ln w="12700">
            <a:solidFill>
              <a:srgbClr val="D7DFEA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1" name="Text 19"/>
          <p:cNvSpPr txBox="1"/>
          <p:nvPr/>
        </p:nvSpPr>
        <p:spPr>
          <a:xfrm>
            <a:off x="5650992" y="534924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HTML · PDF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976872" y="1325880"/>
            <a:ext cx="4480560" cy="4480560"/>
          </a:xfrm>
          <a:prstGeom prst="ellipse">
            <a:avLst/>
          </a:prstGeom>
          <a:solidFill>
            <a:srgbClr val="5DAE3B">
              <a:alpha val="12000"/>
            </a:srgbClr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3" name="Shape 21"/>
          <p:cNvSpPr/>
          <p:nvPr/>
        </p:nvSpPr>
        <p:spPr>
          <a:xfrm>
            <a:off x="7589520" y="1920240"/>
            <a:ext cx="3200400" cy="3200400"/>
          </a:xfrm>
          <a:prstGeom prst="ellipse">
            <a:avLst/>
          </a:prstGeom>
          <a:solidFill>
            <a:srgbClr val="5DAE3B">
              <a:alpha val="18000"/>
            </a:srgbClr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4" name="Shape 22"/>
          <p:cNvSpPr/>
          <p:nvPr/>
        </p:nvSpPr>
        <p:spPr>
          <a:xfrm>
            <a:off x="8229600" y="2651760"/>
            <a:ext cx="960120" cy="868680"/>
          </a:xfrm>
          <a:prstGeom prst="line">
            <a:avLst/>
          </a:prstGeom>
          <a:noFill/>
          <a:ln w="889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5" name="Shape 23"/>
          <p:cNvSpPr/>
          <p:nvPr/>
        </p:nvSpPr>
        <p:spPr>
          <a:xfrm flipH="1">
            <a:off x="9189720" y="2514600"/>
            <a:ext cx="914400" cy="1005840"/>
          </a:xfrm>
          <a:prstGeom prst="line">
            <a:avLst/>
          </a:prstGeom>
          <a:noFill/>
          <a:ln w="889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6" name="Shape 24"/>
          <p:cNvSpPr/>
          <p:nvPr/>
        </p:nvSpPr>
        <p:spPr>
          <a:xfrm>
            <a:off x="9189720" y="3520440"/>
            <a:ext cx="1188720" cy="640080"/>
          </a:xfrm>
          <a:prstGeom prst="line">
            <a:avLst/>
          </a:prstGeom>
          <a:noFill/>
          <a:ln w="889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7" name="Shape 25"/>
          <p:cNvSpPr/>
          <p:nvPr/>
        </p:nvSpPr>
        <p:spPr>
          <a:xfrm flipH="1">
            <a:off x="8458200" y="3520440"/>
            <a:ext cx="731520" cy="1005840"/>
          </a:xfrm>
          <a:prstGeom prst="line">
            <a:avLst/>
          </a:prstGeom>
          <a:noFill/>
          <a:ln w="889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8" name="Shape 26"/>
          <p:cNvSpPr/>
          <p:nvPr/>
        </p:nvSpPr>
        <p:spPr>
          <a:xfrm flipH="1">
            <a:off x="7635240" y="3520440"/>
            <a:ext cx="1554480" cy="914"/>
          </a:xfrm>
          <a:prstGeom prst="line">
            <a:avLst/>
          </a:prstGeom>
          <a:noFill/>
          <a:ln w="88900">
            <a:solidFill>
              <a:srgbClr val="6B7280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9" name="Shape 27"/>
          <p:cNvSpPr/>
          <p:nvPr/>
        </p:nvSpPr>
        <p:spPr>
          <a:xfrm flipV="1">
            <a:off x="9189720" y="1463040"/>
            <a:ext cx="2148840" cy="2057400"/>
          </a:xfrm>
          <a:prstGeom prst="line">
            <a:avLst/>
          </a:prstGeom>
          <a:noFill/>
          <a:ln w="31750">
            <a:solidFill>
              <a:srgbClr val="2F6FD0"/>
            </a:solidFill>
            <a:prstDash val="solid"/>
            <a:tailEnd type="triangle"/>
          </a:ln>
        </p:spPr>
        <p:txBody>
          <a:bodyPr/>
          <a:lstStyle/>
          <a:p>
            <a:endParaRPr lang="en-DE"/>
          </a:p>
        </p:txBody>
      </p:sp>
      <p:sp>
        <p:nvSpPr>
          <p:cNvPr id="30" name="Text 28"/>
          <p:cNvSpPr txBox="1"/>
          <p:nvPr/>
        </p:nvSpPr>
        <p:spPr>
          <a:xfrm>
            <a:off x="10607040" y="105156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2F6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Researchers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 flipH="1" flipV="1">
            <a:off x="6903720" y="1874520"/>
            <a:ext cx="2286000" cy="1645920"/>
          </a:xfrm>
          <a:prstGeom prst="line">
            <a:avLst/>
          </a:prstGeom>
          <a:noFill/>
          <a:ln w="31750">
            <a:solidFill>
              <a:srgbClr val="E8862E"/>
            </a:solidFill>
            <a:prstDash val="solid"/>
            <a:tailEnd type="triangle"/>
          </a:ln>
        </p:spPr>
        <p:txBody>
          <a:bodyPr/>
          <a:lstStyle/>
          <a:p>
            <a:endParaRPr lang="en-DE"/>
          </a:p>
        </p:txBody>
      </p:sp>
      <p:sp>
        <p:nvSpPr>
          <p:cNvPr id="32" name="Text 30"/>
          <p:cNvSpPr txBox="1"/>
          <p:nvPr/>
        </p:nvSpPr>
        <p:spPr>
          <a:xfrm>
            <a:off x="6355080" y="14630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E8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health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9189720" y="3520440"/>
            <a:ext cx="2331720" cy="1600200"/>
          </a:xfrm>
          <a:prstGeom prst="line">
            <a:avLst/>
          </a:prstGeom>
          <a:noFill/>
          <a:ln w="25400">
            <a:solidFill>
              <a:srgbClr val="A9B4C2"/>
            </a:solidFill>
            <a:prstDash val="solid"/>
            <a:tailEnd type="triangle"/>
          </a:ln>
        </p:spPr>
        <p:txBody>
          <a:bodyPr/>
          <a:lstStyle/>
          <a:p>
            <a:endParaRPr lang="en-DE"/>
          </a:p>
        </p:txBody>
      </p:sp>
      <p:sp>
        <p:nvSpPr>
          <p:cNvPr id="34" name="Text 32"/>
          <p:cNvSpPr txBox="1"/>
          <p:nvPr/>
        </p:nvSpPr>
        <p:spPr>
          <a:xfrm>
            <a:off x="10607040" y="52120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3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Clinicians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 flipH="1">
            <a:off x="7680960" y="3520440"/>
            <a:ext cx="1508760" cy="2194560"/>
          </a:xfrm>
          <a:prstGeom prst="line">
            <a:avLst/>
          </a:prstGeom>
          <a:noFill/>
          <a:ln w="25400">
            <a:solidFill>
              <a:srgbClr val="A9B4C2"/>
            </a:solidFill>
            <a:prstDash val="solid"/>
            <a:tailEnd type="triangle"/>
          </a:ln>
        </p:spPr>
        <p:txBody>
          <a:bodyPr/>
          <a:lstStyle/>
          <a:p>
            <a:endParaRPr lang="en-DE"/>
          </a:p>
        </p:txBody>
      </p:sp>
      <p:sp>
        <p:nvSpPr>
          <p:cNvPr id="36" name="Text 34"/>
          <p:cNvSpPr txBox="1"/>
          <p:nvPr/>
        </p:nvSpPr>
        <p:spPr>
          <a:xfrm>
            <a:off x="6766560" y="5760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General public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 flipV="1">
            <a:off x="9189720" y="868680"/>
            <a:ext cx="914" cy="2651760"/>
          </a:xfrm>
          <a:prstGeom prst="line">
            <a:avLst/>
          </a:prstGeom>
          <a:noFill/>
          <a:ln w="31750">
            <a:solidFill>
              <a:srgbClr val="F2B33D"/>
            </a:solidFill>
            <a:prstDash val="dash"/>
            <a:tailEnd type="triangle"/>
          </a:ln>
        </p:spPr>
        <p:txBody>
          <a:bodyPr/>
          <a:lstStyle/>
          <a:p>
            <a:endParaRPr lang="en-DE"/>
          </a:p>
        </p:txBody>
      </p:sp>
      <p:sp>
        <p:nvSpPr>
          <p:cNvPr id="38" name="Text 36"/>
          <p:cNvSpPr txBox="1"/>
          <p:nvPr/>
        </p:nvSpPr>
        <p:spPr>
          <a:xfrm>
            <a:off x="7863840" y="5029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2B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audience = new template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7955280" y="2377440"/>
            <a:ext cx="548640" cy="548640"/>
          </a:xfrm>
          <a:prstGeom prst="ellipse">
            <a:avLst/>
          </a:prstGeom>
          <a:solidFill>
            <a:srgbClr val="5DAE3B"/>
          </a:solidFill>
          <a:ln w="12700">
            <a:solidFill>
              <a:srgbClr val="5DAE3B"/>
            </a:solidFill>
            <a:prstDash val="solid"/>
          </a:ln>
          <a:effectLst>
            <a:outerShdw blurRad="762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40" name="Shape 38"/>
          <p:cNvSpPr/>
          <p:nvPr/>
        </p:nvSpPr>
        <p:spPr>
          <a:xfrm>
            <a:off x="8054035" y="2454250"/>
            <a:ext cx="175565" cy="14264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41" name="Shape 39"/>
          <p:cNvSpPr/>
          <p:nvPr/>
        </p:nvSpPr>
        <p:spPr>
          <a:xfrm>
            <a:off x="9829800" y="2240280"/>
            <a:ext cx="548640" cy="548640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  <a:effectLst>
            <a:outerShdw blurRad="762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42" name="Shape 40"/>
          <p:cNvSpPr/>
          <p:nvPr/>
        </p:nvSpPr>
        <p:spPr>
          <a:xfrm>
            <a:off x="9928555" y="2317090"/>
            <a:ext cx="175565" cy="14264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43" name="Shape 41"/>
          <p:cNvSpPr/>
          <p:nvPr/>
        </p:nvSpPr>
        <p:spPr>
          <a:xfrm>
            <a:off x="10104120" y="3886200"/>
            <a:ext cx="548640" cy="548640"/>
          </a:xfrm>
          <a:prstGeom prst="ellipse">
            <a:avLst/>
          </a:prstGeom>
          <a:solidFill>
            <a:srgbClr val="5DAE3B"/>
          </a:solidFill>
          <a:ln w="12700">
            <a:solidFill>
              <a:srgbClr val="5DAE3B"/>
            </a:solidFill>
            <a:prstDash val="solid"/>
          </a:ln>
          <a:effectLst>
            <a:outerShdw blurRad="762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44" name="Shape 42"/>
          <p:cNvSpPr/>
          <p:nvPr/>
        </p:nvSpPr>
        <p:spPr>
          <a:xfrm>
            <a:off x="10202875" y="3963010"/>
            <a:ext cx="175565" cy="14264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45" name="Shape 43"/>
          <p:cNvSpPr/>
          <p:nvPr/>
        </p:nvSpPr>
        <p:spPr>
          <a:xfrm>
            <a:off x="8183880" y="4251960"/>
            <a:ext cx="548640" cy="548640"/>
          </a:xfrm>
          <a:prstGeom prst="ellipse">
            <a:avLst/>
          </a:prstGeom>
          <a:solidFill>
            <a:srgbClr val="5DAE3B"/>
          </a:solidFill>
          <a:ln w="12700">
            <a:solidFill>
              <a:srgbClr val="5DAE3B"/>
            </a:solidFill>
            <a:prstDash val="solid"/>
          </a:ln>
          <a:effectLst>
            <a:outerShdw blurRad="762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46" name="Shape 44"/>
          <p:cNvSpPr/>
          <p:nvPr/>
        </p:nvSpPr>
        <p:spPr>
          <a:xfrm>
            <a:off x="8282635" y="4328770"/>
            <a:ext cx="175565" cy="14264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47" name="Shape 45"/>
          <p:cNvSpPr/>
          <p:nvPr/>
        </p:nvSpPr>
        <p:spPr>
          <a:xfrm>
            <a:off x="7360920" y="3246120"/>
            <a:ext cx="548640" cy="548640"/>
          </a:xfrm>
          <a:prstGeom prst="ellipse">
            <a:avLst/>
          </a:prstGeom>
          <a:solidFill>
            <a:srgbClr val="D9DEE5"/>
          </a:solidFill>
          <a:ln w="12700">
            <a:solidFill>
              <a:srgbClr val="D9DEE5"/>
            </a:solidFill>
            <a:prstDash val="solid"/>
          </a:ln>
          <a:effectLst>
            <a:outerShdw blurRad="762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48" name="Shape 46"/>
          <p:cNvSpPr/>
          <p:nvPr/>
        </p:nvSpPr>
        <p:spPr>
          <a:xfrm>
            <a:off x="7459675" y="3322930"/>
            <a:ext cx="175565" cy="142646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49" name="Shape 47"/>
          <p:cNvSpPr/>
          <p:nvPr/>
        </p:nvSpPr>
        <p:spPr>
          <a:xfrm>
            <a:off x="8641080" y="2971800"/>
            <a:ext cx="1097280" cy="1097280"/>
          </a:xfrm>
          <a:prstGeom prst="ellipse">
            <a:avLst/>
          </a:prstGeom>
          <a:solidFill>
            <a:srgbClr val="5DAE3B"/>
          </a:solidFill>
          <a:ln w="12700">
            <a:solidFill>
              <a:srgbClr val="5DAE3B"/>
            </a:solidFill>
            <a:prstDash val="solid"/>
          </a:ln>
          <a:effectLst>
            <a:outerShdw blurRad="762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DE"/>
          </a:p>
        </p:txBody>
      </p:sp>
      <p:sp>
        <p:nvSpPr>
          <p:cNvPr id="50" name="Shape 48"/>
          <p:cNvSpPr/>
          <p:nvPr/>
        </p:nvSpPr>
        <p:spPr>
          <a:xfrm>
            <a:off x="8838590" y="3125419"/>
            <a:ext cx="351130" cy="285293"/>
          </a:xfrm>
          <a:prstGeom prst="ellipse">
            <a:avLst/>
          </a:prstGeom>
          <a:solidFill>
            <a:srgbClr val="FFFFFF">
              <a:alpha val="45000"/>
            </a:srgbClr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5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8552" y="3337560"/>
            <a:ext cx="402336" cy="402336"/>
          </a:xfrm>
          <a:prstGeom prst="rect">
            <a:avLst/>
          </a:prstGeom>
        </p:spPr>
      </p:pic>
      <p:sp>
        <p:nvSpPr>
          <p:cNvPr id="52" name="Text 49"/>
          <p:cNvSpPr txBox="1"/>
          <p:nvPr/>
        </p:nvSpPr>
        <p:spPr>
          <a:xfrm>
            <a:off x="457200" y="594360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Lars E. Baumann · Lavanya Ranganathan · </a:t>
            </a:r>
            <a:r>
              <a:rPr lang="en-DE" sz="13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Nisha Suthar</a:t>
            </a:r>
            <a:endParaRPr lang="en-US" sz="1300" dirty="0"/>
          </a:p>
        </p:txBody>
      </p:sp>
      <p:sp>
        <p:nvSpPr>
          <p:cNvPr id="5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97180" y="155486"/>
            <a:ext cx="8229600" cy="636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2800" b="1" kern="0" spc="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r>
              <a:rPr lang="en-DE" sz="2800" b="1" kern="0" spc="3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Same </a:t>
            </a:r>
            <a:r>
              <a:rPr lang="en-DE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r>
              <a:rPr lang="en-US" sz="28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ata</a:t>
            </a:r>
            <a:r>
              <a:rPr lang="en-DE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r>
              <a:rPr lang="en-US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Different </a:t>
            </a:r>
            <a:r>
              <a:rPr lang="en-DE" sz="28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Q</a:t>
            </a:r>
            <a:r>
              <a:rPr lang="en-US" sz="2800" b="1" dirty="0" err="1">
                <a:latin typeface="Calibri" pitchFamily="34" charset="0"/>
                <a:ea typeface="Calibri" pitchFamily="34" charset="-122"/>
                <a:cs typeface="Calibri" pitchFamily="34" charset="-120"/>
              </a:rPr>
              <a:t>uestions</a:t>
            </a:r>
            <a:endParaRPr lang="en-US" sz="2800" b="1" dirty="0"/>
          </a:p>
          <a:p>
            <a:pPr marL="0" indent="0">
              <a:buNone/>
            </a:pP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425196" y="882793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Today each audience’s report is rebuilt by hand</a:t>
            </a:r>
            <a:r>
              <a:rPr lang="en-DE" sz="17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r>
              <a:rPr lang="en-US" sz="17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 numbers drift and nobody can say which data a chart came from.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539996" y="2331720"/>
            <a:ext cx="3108960" cy="3108960"/>
          </a:xfrm>
          <a:prstGeom prst="ellipse">
            <a:avLst/>
          </a:prstGeom>
          <a:solidFill>
            <a:srgbClr val="E6EEF8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6" name="Shape 4"/>
          <p:cNvSpPr/>
          <p:nvPr/>
        </p:nvSpPr>
        <p:spPr>
          <a:xfrm>
            <a:off x="4768596" y="2560320"/>
            <a:ext cx="2651760" cy="2651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7DFEA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7" name="Shape 5"/>
          <p:cNvSpPr/>
          <p:nvPr/>
        </p:nvSpPr>
        <p:spPr>
          <a:xfrm>
            <a:off x="5682996" y="2834640"/>
            <a:ext cx="822960" cy="822960"/>
          </a:xfrm>
          <a:prstGeom prst="ellipse">
            <a:avLst/>
          </a:prstGeom>
          <a:solidFill>
            <a:srgbClr val="5DAE3B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8736" y="3040380"/>
            <a:ext cx="411480" cy="4114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905756" y="37490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FOPH surveillance data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905756" y="41148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376,588 rows · 16 indicators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905756" y="44348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007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cleaned table</a:t>
            </a:r>
            <a:endParaRPr lang="en-US" sz="1100" b="1" dirty="0">
              <a:solidFill>
                <a:srgbClr val="0070C0"/>
              </a:solidFill>
            </a:endParaRPr>
          </a:p>
        </p:txBody>
      </p:sp>
      <p:sp>
        <p:nvSpPr>
          <p:cNvPr id="12" name="Shape 9"/>
          <p:cNvSpPr/>
          <p:nvPr/>
        </p:nvSpPr>
        <p:spPr>
          <a:xfrm>
            <a:off x="457200" y="2057400"/>
            <a:ext cx="37490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28575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3" name="Text 10"/>
          <p:cNvSpPr txBox="1"/>
          <p:nvPr/>
        </p:nvSpPr>
        <p:spPr>
          <a:xfrm>
            <a:off x="685800" y="221284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health officials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257860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needs attention now?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617720" y="2560320"/>
            <a:ext cx="456155" cy="409551"/>
          </a:xfrm>
          <a:prstGeom prst="line">
            <a:avLst/>
          </a:prstGeom>
          <a:noFill/>
          <a:ln w="25400">
            <a:solidFill>
              <a:srgbClr val="1A9E8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6" name="Shape 13"/>
          <p:cNvSpPr/>
          <p:nvPr/>
        </p:nvSpPr>
        <p:spPr>
          <a:xfrm>
            <a:off x="3794760" y="2148840"/>
            <a:ext cx="822960" cy="822960"/>
          </a:xfrm>
          <a:prstGeom prst="ellipse">
            <a:avLst/>
          </a:prstGeom>
          <a:solidFill>
            <a:srgbClr val="1A9E8F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0500" y="2354580"/>
            <a:ext cx="411480" cy="411480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7982712" y="2057400"/>
            <a:ext cx="37490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28575">
            <a:solidFill>
              <a:srgbClr val="2F6FD0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9" name="Text 15"/>
          <p:cNvSpPr txBox="1"/>
          <p:nvPr/>
        </p:nvSpPr>
        <p:spPr>
          <a:xfrm>
            <a:off x="8577072" y="221284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2F6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Researchers/ co-workers</a:t>
            </a:r>
            <a:endParaRPr lang="en-US" sz="1600" dirty="0"/>
          </a:p>
        </p:txBody>
      </p:sp>
      <p:sp>
        <p:nvSpPr>
          <p:cNvPr id="20" name="Text 16"/>
          <p:cNvSpPr txBox="1"/>
          <p:nvPr/>
        </p:nvSpPr>
        <p:spPr>
          <a:xfrm>
            <a:off x="8577072" y="257860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I trust and re-run this?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 flipH="1">
            <a:off x="7115077" y="2560320"/>
            <a:ext cx="456155" cy="409551"/>
          </a:xfrm>
          <a:prstGeom prst="line">
            <a:avLst/>
          </a:prstGeom>
          <a:noFill/>
          <a:ln w="25400">
            <a:solidFill>
              <a:srgbClr val="2F6FD0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2" name="Shape 18"/>
          <p:cNvSpPr/>
          <p:nvPr/>
        </p:nvSpPr>
        <p:spPr>
          <a:xfrm>
            <a:off x="7571232" y="2148840"/>
            <a:ext cx="822960" cy="822960"/>
          </a:xfrm>
          <a:prstGeom prst="ellipse">
            <a:avLst/>
          </a:prstGeom>
          <a:solidFill>
            <a:srgbClr val="2F6FD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6972" y="2354580"/>
            <a:ext cx="411480" cy="411480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457200" y="3337560"/>
            <a:ext cx="3749040" cy="1005840"/>
          </a:xfrm>
          <a:prstGeom prst="roundRect">
            <a:avLst>
              <a:gd name="adj" fmla="val 10909"/>
            </a:avLst>
          </a:prstGeom>
          <a:solidFill>
            <a:srgbClr val="F1F5FB"/>
          </a:solidFill>
          <a:ln w="12700">
            <a:solidFill>
              <a:srgbClr val="D7DFEA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5" name="Text 20"/>
          <p:cNvSpPr txBox="1"/>
          <p:nvPr/>
        </p:nvSpPr>
        <p:spPr>
          <a:xfrm>
            <a:off x="685800" y="349300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Cantonal health offices</a:t>
            </a:r>
            <a:endParaRPr lang="en-US" sz="1600" dirty="0"/>
          </a:p>
        </p:txBody>
      </p:sp>
      <p:sp>
        <p:nvSpPr>
          <p:cNvPr id="26" name="Text 21"/>
          <p:cNvSpPr txBox="1"/>
          <p:nvPr/>
        </p:nvSpPr>
        <p:spPr>
          <a:xfrm>
            <a:off x="685800" y="38587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happening in my canton?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4617720" y="3840480"/>
            <a:ext cx="105813" cy="3276"/>
          </a:xfrm>
          <a:prstGeom prst="line">
            <a:avLst/>
          </a:prstGeom>
          <a:noFill/>
          <a:ln w="25400">
            <a:solidFill>
              <a:srgbClr val="D7DFEA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8" name="Shape 23"/>
          <p:cNvSpPr/>
          <p:nvPr/>
        </p:nvSpPr>
        <p:spPr>
          <a:xfrm>
            <a:off x="3794760" y="3429000"/>
            <a:ext cx="822960" cy="822960"/>
          </a:xfrm>
          <a:prstGeom prst="ellipse">
            <a:avLst/>
          </a:prstGeom>
          <a:solidFill>
            <a:srgbClr val="C5CED9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pic>
        <p:nvPicPr>
          <p:cNvPr id="2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00500" y="3634740"/>
            <a:ext cx="411480" cy="411480"/>
          </a:xfrm>
          <a:prstGeom prst="rect">
            <a:avLst/>
          </a:prstGeom>
        </p:spPr>
      </p:pic>
      <p:sp>
        <p:nvSpPr>
          <p:cNvPr id="30" name="Shape 24"/>
          <p:cNvSpPr/>
          <p:nvPr/>
        </p:nvSpPr>
        <p:spPr>
          <a:xfrm>
            <a:off x="685800" y="318211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F2B33D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1" name="Text 25"/>
          <p:cNvSpPr txBox="1"/>
          <p:nvPr/>
        </p:nvSpPr>
        <p:spPr>
          <a:xfrm>
            <a:off x="685800" y="31821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A6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template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82712" y="3337560"/>
            <a:ext cx="3749040" cy="1005840"/>
          </a:xfrm>
          <a:prstGeom prst="roundRect">
            <a:avLst>
              <a:gd name="adj" fmla="val 10909"/>
            </a:avLst>
          </a:prstGeom>
          <a:solidFill>
            <a:srgbClr val="F1F5FB"/>
          </a:solidFill>
          <a:ln w="12700">
            <a:solidFill>
              <a:srgbClr val="D7DFEA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3" name="Text 27"/>
          <p:cNvSpPr txBox="1"/>
          <p:nvPr/>
        </p:nvSpPr>
        <p:spPr>
          <a:xfrm>
            <a:off x="8577072" y="349300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providers</a:t>
            </a:r>
            <a:endParaRPr lang="en-US" sz="1600" dirty="0"/>
          </a:p>
        </p:txBody>
      </p:sp>
      <p:sp>
        <p:nvSpPr>
          <p:cNvPr id="34" name="Text 28"/>
          <p:cNvSpPr txBox="1"/>
          <p:nvPr/>
        </p:nvSpPr>
        <p:spPr>
          <a:xfrm>
            <a:off x="8577072" y="385876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my case part of a signal?</a:t>
            </a:r>
            <a:endParaRPr lang="en-US" sz="1300" dirty="0"/>
          </a:p>
        </p:txBody>
      </p:sp>
      <p:sp>
        <p:nvSpPr>
          <p:cNvPr id="35" name="Shape 29"/>
          <p:cNvSpPr/>
          <p:nvPr/>
        </p:nvSpPr>
        <p:spPr>
          <a:xfrm flipH="1">
            <a:off x="7465419" y="3840480"/>
            <a:ext cx="105813" cy="3276"/>
          </a:xfrm>
          <a:prstGeom prst="line">
            <a:avLst/>
          </a:prstGeom>
          <a:noFill/>
          <a:ln w="25400">
            <a:solidFill>
              <a:srgbClr val="D7DFEA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6" name="Shape 30"/>
          <p:cNvSpPr/>
          <p:nvPr/>
        </p:nvSpPr>
        <p:spPr>
          <a:xfrm>
            <a:off x="7571232" y="3429000"/>
            <a:ext cx="822960" cy="822960"/>
          </a:xfrm>
          <a:prstGeom prst="ellipse">
            <a:avLst/>
          </a:prstGeom>
          <a:solidFill>
            <a:srgbClr val="C5CED9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pic>
        <p:nvPicPr>
          <p:cNvPr id="3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6972" y="3634740"/>
            <a:ext cx="411480" cy="411480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10405872" y="318211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F2B33D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9" name="Text 32"/>
          <p:cNvSpPr txBox="1"/>
          <p:nvPr/>
        </p:nvSpPr>
        <p:spPr>
          <a:xfrm>
            <a:off x="10405872" y="318211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A6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template</a:t>
            </a:r>
            <a:endParaRPr lang="en-US" sz="1000" dirty="0"/>
          </a:p>
        </p:txBody>
      </p:sp>
      <p:sp>
        <p:nvSpPr>
          <p:cNvPr id="40" name="Shape 33"/>
          <p:cNvSpPr/>
          <p:nvPr/>
        </p:nvSpPr>
        <p:spPr>
          <a:xfrm>
            <a:off x="457200" y="4617720"/>
            <a:ext cx="3749040" cy="1005840"/>
          </a:xfrm>
          <a:prstGeom prst="roundRect">
            <a:avLst>
              <a:gd name="adj" fmla="val 10909"/>
            </a:avLst>
          </a:prstGeom>
          <a:solidFill>
            <a:srgbClr val="F1F5FB"/>
          </a:solidFill>
          <a:ln w="12700">
            <a:solidFill>
              <a:srgbClr val="D7DFEA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41" name="Text 34"/>
          <p:cNvSpPr txBox="1"/>
          <p:nvPr/>
        </p:nvSpPr>
        <p:spPr>
          <a:xfrm>
            <a:off x="685800" y="477316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makers</a:t>
            </a:r>
            <a:endParaRPr lang="en-US" sz="1600" dirty="0"/>
          </a:p>
        </p:txBody>
      </p:sp>
      <p:sp>
        <p:nvSpPr>
          <p:cNvPr id="42" name="Text 35"/>
          <p:cNvSpPr txBox="1"/>
          <p:nvPr/>
        </p:nvSpPr>
        <p:spPr>
          <a:xfrm>
            <a:off x="685800" y="51389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burden rising?</a:t>
            </a:r>
            <a:endParaRPr lang="en-US" sz="1300" dirty="0"/>
          </a:p>
        </p:txBody>
      </p:sp>
      <p:sp>
        <p:nvSpPr>
          <p:cNvPr id="43" name="Shape 36"/>
          <p:cNvSpPr/>
          <p:nvPr/>
        </p:nvSpPr>
        <p:spPr>
          <a:xfrm flipH="1">
            <a:off x="4617720" y="4765878"/>
            <a:ext cx="424400" cy="354762"/>
          </a:xfrm>
          <a:prstGeom prst="line">
            <a:avLst/>
          </a:prstGeom>
          <a:noFill/>
          <a:ln w="25400">
            <a:solidFill>
              <a:srgbClr val="D7DFEA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44" name="Shape 37"/>
          <p:cNvSpPr/>
          <p:nvPr/>
        </p:nvSpPr>
        <p:spPr>
          <a:xfrm>
            <a:off x="3794760" y="4709160"/>
            <a:ext cx="822960" cy="822960"/>
          </a:xfrm>
          <a:prstGeom prst="ellipse">
            <a:avLst/>
          </a:prstGeom>
          <a:solidFill>
            <a:srgbClr val="C5CED9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pic>
        <p:nvPicPr>
          <p:cNvPr id="4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00500" y="4914900"/>
            <a:ext cx="411480" cy="411480"/>
          </a:xfrm>
          <a:prstGeom prst="rect">
            <a:avLst/>
          </a:prstGeom>
        </p:spPr>
      </p:pic>
      <p:sp>
        <p:nvSpPr>
          <p:cNvPr id="46" name="Shape 38"/>
          <p:cNvSpPr/>
          <p:nvPr/>
        </p:nvSpPr>
        <p:spPr>
          <a:xfrm>
            <a:off x="685800" y="446227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F2B33D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47" name="Text 39"/>
          <p:cNvSpPr txBox="1"/>
          <p:nvPr/>
        </p:nvSpPr>
        <p:spPr>
          <a:xfrm>
            <a:off x="685800" y="44622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A6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template</a:t>
            </a:r>
            <a:endParaRPr lang="en-US" sz="1000" dirty="0"/>
          </a:p>
        </p:txBody>
      </p:sp>
      <p:sp>
        <p:nvSpPr>
          <p:cNvPr id="48" name="Shape 40"/>
          <p:cNvSpPr/>
          <p:nvPr/>
        </p:nvSpPr>
        <p:spPr>
          <a:xfrm>
            <a:off x="7982712" y="4617720"/>
            <a:ext cx="3749040" cy="1005840"/>
          </a:xfrm>
          <a:prstGeom prst="roundRect">
            <a:avLst>
              <a:gd name="adj" fmla="val 10909"/>
            </a:avLst>
          </a:prstGeom>
          <a:solidFill>
            <a:srgbClr val="F1F5FB"/>
          </a:solidFill>
          <a:ln w="12700">
            <a:solidFill>
              <a:srgbClr val="D7DFEA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49" name="Text 41"/>
          <p:cNvSpPr txBox="1"/>
          <p:nvPr/>
        </p:nvSpPr>
        <p:spPr>
          <a:xfrm>
            <a:off x="8577072" y="4773168"/>
            <a:ext cx="2926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General public</a:t>
            </a:r>
            <a:endParaRPr lang="en-US" sz="1600" dirty="0"/>
          </a:p>
        </p:txBody>
      </p:sp>
      <p:sp>
        <p:nvSpPr>
          <p:cNvPr id="50" name="Text 42"/>
          <p:cNvSpPr txBox="1"/>
          <p:nvPr/>
        </p:nvSpPr>
        <p:spPr>
          <a:xfrm>
            <a:off x="8577072" y="51389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I be concerned?</a:t>
            </a:r>
            <a:endParaRPr lang="en-US" sz="1300" dirty="0"/>
          </a:p>
        </p:txBody>
      </p:sp>
      <p:sp>
        <p:nvSpPr>
          <p:cNvPr id="51" name="Shape 43"/>
          <p:cNvSpPr/>
          <p:nvPr/>
        </p:nvSpPr>
        <p:spPr>
          <a:xfrm>
            <a:off x="7146832" y="4765878"/>
            <a:ext cx="424400" cy="354762"/>
          </a:xfrm>
          <a:prstGeom prst="line">
            <a:avLst/>
          </a:prstGeom>
          <a:noFill/>
          <a:ln w="25400">
            <a:solidFill>
              <a:srgbClr val="D7DFEA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52" name="Shape 44"/>
          <p:cNvSpPr/>
          <p:nvPr/>
        </p:nvSpPr>
        <p:spPr>
          <a:xfrm>
            <a:off x="7571232" y="4709160"/>
            <a:ext cx="822960" cy="822960"/>
          </a:xfrm>
          <a:prstGeom prst="ellipse">
            <a:avLst/>
          </a:prstGeom>
          <a:solidFill>
            <a:srgbClr val="C5CED9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pic>
        <p:nvPicPr>
          <p:cNvPr id="53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6972" y="4914900"/>
            <a:ext cx="411480" cy="411480"/>
          </a:xfrm>
          <a:prstGeom prst="rect">
            <a:avLst/>
          </a:prstGeom>
        </p:spPr>
      </p:pic>
      <p:sp>
        <p:nvSpPr>
          <p:cNvPr id="54" name="Shape 45"/>
          <p:cNvSpPr/>
          <p:nvPr/>
        </p:nvSpPr>
        <p:spPr>
          <a:xfrm>
            <a:off x="10405872" y="4462272"/>
            <a:ext cx="1143000" cy="274320"/>
          </a:xfrm>
          <a:prstGeom prst="roundRect">
            <a:avLst>
              <a:gd name="adj" fmla="val 50000"/>
            </a:avLst>
          </a:prstGeom>
          <a:solidFill>
            <a:srgbClr val="FFF4DE"/>
          </a:solidFill>
          <a:ln w="12700">
            <a:solidFill>
              <a:srgbClr val="F2B33D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55" name="Text 46"/>
          <p:cNvSpPr txBox="1"/>
          <p:nvPr/>
        </p:nvSpPr>
        <p:spPr>
          <a:xfrm>
            <a:off x="10405872" y="4462272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A6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template</a:t>
            </a:r>
            <a:endParaRPr lang="en-US" sz="1000" dirty="0"/>
          </a:p>
        </p:txBody>
      </p:sp>
      <p:sp>
        <p:nvSpPr>
          <p:cNvPr id="56" name="Text 47"/>
          <p:cNvSpPr txBox="1"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E8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Built: </a:t>
            </a: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audiences, one click each.  </a:t>
            </a:r>
            <a:endParaRPr lang="en-US" sz="1500" dirty="0"/>
          </a:p>
        </p:txBody>
      </p:sp>
      <p:sp>
        <p:nvSpPr>
          <p:cNvPr id="5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420624" y="284386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raw export to report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26517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28575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5" name="Shape 3"/>
          <p:cNvSpPr/>
          <p:nvPr/>
        </p:nvSpPr>
        <p:spPr>
          <a:xfrm>
            <a:off x="640080" y="1691640"/>
            <a:ext cx="548640" cy="548640"/>
          </a:xfrm>
          <a:prstGeom prst="ellipse">
            <a:avLst/>
          </a:prstGeom>
          <a:solidFill>
            <a:srgbClr val="E8862E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828800"/>
            <a:ext cx="274320" cy="2743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25880" y="166420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E8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→ 20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2860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files → unique datasets (17 duplicates skipped)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291840" y="1508760"/>
            <a:ext cx="26517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28575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0" name="Shape 7"/>
          <p:cNvSpPr/>
          <p:nvPr/>
        </p:nvSpPr>
        <p:spPr>
          <a:xfrm>
            <a:off x="3474720" y="1691640"/>
            <a:ext cx="548640" cy="548640"/>
          </a:xfrm>
          <a:prstGeom prst="ellipse">
            <a:avLst/>
          </a:prstGeom>
          <a:solidFill>
            <a:srgbClr val="2F6FD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11880" y="1828800"/>
            <a:ext cx="274320" cy="2743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160520" y="166420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2F6F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376,588</a:t>
            </a:r>
            <a:endParaRPr lang="en-US" sz="2600" dirty="0"/>
          </a:p>
        </p:txBody>
      </p:sp>
      <p:sp>
        <p:nvSpPr>
          <p:cNvPr id="13" name="Text 9"/>
          <p:cNvSpPr txBox="1"/>
          <p:nvPr/>
        </p:nvSpPr>
        <p:spPr>
          <a:xfrm>
            <a:off x="3474720" y="22860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in one harmonised table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126480" y="1508760"/>
            <a:ext cx="26517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28575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5" name="Shape 11"/>
          <p:cNvSpPr/>
          <p:nvPr/>
        </p:nvSpPr>
        <p:spPr>
          <a:xfrm>
            <a:off x="6309360" y="1691640"/>
            <a:ext cx="548640" cy="548640"/>
          </a:xfrm>
          <a:prstGeom prst="ellipse">
            <a:avLst/>
          </a:prstGeom>
          <a:solidFill>
            <a:srgbClr val="1A9E8F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1828800"/>
            <a:ext cx="274320" cy="2743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6995160" y="166420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1A9E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2600" dirty="0"/>
          </a:p>
        </p:txBody>
      </p:sp>
      <p:sp>
        <p:nvSpPr>
          <p:cNvPr id="18" name="Text 13"/>
          <p:cNvSpPr txBox="1"/>
          <p:nvPr/>
        </p:nvSpPr>
        <p:spPr>
          <a:xfrm>
            <a:off x="6309360" y="22860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 indicators in the reports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8961120" y="1508760"/>
            <a:ext cx="26517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28575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0" name="Shape 15"/>
          <p:cNvSpPr/>
          <p:nvPr/>
        </p:nvSpPr>
        <p:spPr>
          <a:xfrm>
            <a:off x="9144000" y="1691640"/>
            <a:ext cx="548640" cy="548640"/>
          </a:xfrm>
          <a:prstGeom prst="ellipse">
            <a:avLst/>
          </a:prstGeom>
          <a:solidFill>
            <a:srgbClr val="5DAE3B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81160" y="1828800"/>
            <a:ext cx="274320" cy="27432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9829800" y="1664208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600" b="1" dirty="0">
                <a:solidFill>
                  <a:srgbClr val="5DA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2013–2026</a:t>
            </a:r>
            <a:endParaRPr lang="en-US" sz="2600" dirty="0"/>
          </a:p>
        </p:txBody>
      </p:sp>
      <p:sp>
        <p:nvSpPr>
          <p:cNvPr id="23" name="Text 17"/>
          <p:cNvSpPr txBox="1"/>
          <p:nvPr/>
        </p:nvSpPr>
        <p:spPr>
          <a:xfrm>
            <a:off x="9144000" y="228600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mandatory reports, GP network, labs, wastewater</a:t>
            </a:r>
            <a:endParaRPr lang="en-US" sz="1200" dirty="0"/>
          </a:p>
        </p:txBody>
      </p:sp>
      <p:sp>
        <p:nvSpPr>
          <p:cNvPr id="25" name="Shape 19"/>
          <p:cNvSpPr/>
          <p:nvPr/>
        </p:nvSpPr>
        <p:spPr>
          <a:xfrm>
            <a:off x="868680" y="3291840"/>
            <a:ext cx="1005840" cy="1005840"/>
          </a:xfrm>
          <a:prstGeom prst="ellipse">
            <a:avLst/>
          </a:prstGeom>
          <a:solidFill>
            <a:srgbClr val="2F6FD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20140" y="3543300"/>
            <a:ext cx="502920" cy="50292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57200" y="4434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 Fetch</a:t>
            </a:r>
            <a:endParaRPr lang="en-US" sz="1500" dirty="0"/>
          </a:p>
        </p:txBody>
      </p:sp>
      <p:sp>
        <p:nvSpPr>
          <p:cNvPr id="28" name="Text 21"/>
          <p:cNvSpPr txBox="1"/>
          <p:nvPr/>
        </p:nvSpPr>
        <p:spPr>
          <a:xfrm>
            <a:off x="502920" y="4800600"/>
            <a:ext cx="173736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FOPH exports, weekly via GitHub Actions</a:t>
            </a:r>
            <a:endParaRPr lang="en-US" sz="1200" dirty="0"/>
          </a:p>
        </p:txBody>
      </p:sp>
      <p:sp>
        <p:nvSpPr>
          <p:cNvPr id="29" name="Shape 22"/>
          <p:cNvSpPr/>
          <p:nvPr/>
        </p:nvSpPr>
        <p:spPr>
          <a:xfrm>
            <a:off x="2770632" y="3291840"/>
            <a:ext cx="1005840" cy="1005840"/>
          </a:xfrm>
          <a:prstGeom prst="ellipse">
            <a:avLst/>
          </a:prstGeom>
          <a:solidFill>
            <a:srgbClr val="2F6FD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22092" y="3543300"/>
            <a:ext cx="502920" cy="50292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2359152" y="4434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 Snapshot</a:t>
            </a:r>
            <a:endParaRPr lang="en-US" sz="1500" dirty="0"/>
          </a:p>
        </p:txBody>
      </p:sp>
      <p:sp>
        <p:nvSpPr>
          <p:cNvPr id="32" name="Text 24"/>
          <p:cNvSpPr txBox="1"/>
          <p:nvPr/>
        </p:nvSpPr>
        <p:spPr>
          <a:xfrm>
            <a:off x="2450592" y="479498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files archived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4672584" y="3291840"/>
            <a:ext cx="1005840" cy="1005840"/>
          </a:xfrm>
          <a:prstGeom prst="ellipse">
            <a:avLst/>
          </a:prstGeom>
          <a:solidFill>
            <a:srgbClr val="1A9E8F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24044" y="3543300"/>
            <a:ext cx="502920" cy="50292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4261104" y="4434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 Harmonise</a:t>
            </a:r>
            <a:endParaRPr lang="en-US" sz="1500" dirty="0"/>
          </a:p>
        </p:txBody>
      </p:sp>
      <p:sp>
        <p:nvSpPr>
          <p:cNvPr id="36" name="Text 27"/>
          <p:cNvSpPr txBox="1"/>
          <p:nvPr/>
        </p:nvSpPr>
        <p:spPr>
          <a:xfrm>
            <a:off x="4306824" y="4800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datasets → one table</a:t>
            </a:r>
            <a:endParaRPr lang="en-US" sz="1200" dirty="0"/>
          </a:p>
        </p:txBody>
      </p:sp>
      <p:sp>
        <p:nvSpPr>
          <p:cNvPr id="37" name="Shape 28"/>
          <p:cNvSpPr/>
          <p:nvPr/>
        </p:nvSpPr>
        <p:spPr>
          <a:xfrm>
            <a:off x="6574536" y="3291840"/>
            <a:ext cx="1005840" cy="1005840"/>
          </a:xfrm>
          <a:prstGeom prst="ellipse">
            <a:avLst/>
          </a:prstGeom>
          <a:solidFill>
            <a:srgbClr val="D64545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pic>
        <p:nvPicPr>
          <p:cNvPr id="38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25996" y="3543300"/>
            <a:ext cx="502920" cy="502920"/>
          </a:xfrm>
          <a:prstGeom prst="rect">
            <a:avLst/>
          </a:prstGeom>
        </p:spPr>
      </p:pic>
      <p:sp>
        <p:nvSpPr>
          <p:cNvPr id="39" name="Text 29"/>
          <p:cNvSpPr txBox="1"/>
          <p:nvPr/>
        </p:nvSpPr>
        <p:spPr>
          <a:xfrm>
            <a:off x="6163056" y="4434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 Quality gate</a:t>
            </a:r>
            <a:endParaRPr lang="en-US" sz="1500" dirty="0"/>
          </a:p>
        </p:txBody>
      </p:sp>
      <p:sp>
        <p:nvSpPr>
          <p:cNvPr id="40" name="Text 30"/>
          <p:cNvSpPr txBox="1"/>
          <p:nvPr/>
        </p:nvSpPr>
        <p:spPr>
          <a:xfrm>
            <a:off x="6208776" y="4800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stops the build</a:t>
            </a:r>
            <a:endParaRPr lang="en-US" sz="1200" dirty="0"/>
          </a:p>
        </p:txBody>
      </p:sp>
      <p:sp>
        <p:nvSpPr>
          <p:cNvPr id="41" name="Shape 31"/>
          <p:cNvSpPr/>
          <p:nvPr/>
        </p:nvSpPr>
        <p:spPr>
          <a:xfrm>
            <a:off x="8476488" y="3291840"/>
            <a:ext cx="1005840" cy="1005840"/>
          </a:xfrm>
          <a:prstGeom prst="ellipse">
            <a:avLst/>
          </a:prstGeom>
          <a:solidFill>
            <a:srgbClr val="5DAE3B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pic>
        <p:nvPicPr>
          <p:cNvPr id="42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27948" y="3543300"/>
            <a:ext cx="502920" cy="502920"/>
          </a:xfrm>
          <a:prstGeom prst="rect">
            <a:avLst/>
          </a:prstGeom>
        </p:spPr>
      </p:pic>
      <p:sp>
        <p:nvSpPr>
          <p:cNvPr id="43" name="Text 32"/>
          <p:cNvSpPr txBox="1"/>
          <p:nvPr/>
        </p:nvSpPr>
        <p:spPr>
          <a:xfrm>
            <a:off x="8065008" y="4434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 Report</a:t>
            </a:r>
            <a:endParaRPr lang="en-US" sz="1500" dirty="0"/>
          </a:p>
        </p:txBody>
      </p:sp>
      <p:sp>
        <p:nvSpPr>
          <p:cNvPr id="44" name="Text 33"/>
          <p:cNvSpPr txBox="1"/>
          <p:nvPr/>
        </p:nvSpPr>
        <p:spPr>
          <a:xfrm>
            <a:off x="8110728" y="4800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Quarto, one per stakeholder</a:t>
            </a:r>
            <a:endParaRPr lang="en-US" sz="1200" dirty="0"/>
          </a:p>
        </p:txBody>
      </p:sp>
      <p:sp>
        <p:nvSpPr>
          <p:cNvPr id="45" name="Shape 34"/>
          <p:cNvSpPr/>
          <p:nvPr/>
        </p:nvSpPr>
        <p:spPr>
          <a:xfrm>
            <a:off x="10378440" y="3291840"/>
            <a:ext cx="1005840" cy="1005840"/>
          </a:xfrm>
          <a:prstGeom prst="ellipse">
            <a:avLst/>
          </a:prstGeom>
          <a:solidFill>
            <a:srgbClr val="5DAE3B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pic>
        <p:nvPicPr>
          <p:cNvPr id="46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629900" y="3543300"/>
            <a:ext cx="502920" cy="502920"/>
          </a:xfrm>
          <a:prstGeom prst="rect">
            <a:avLst/>
          </a:prstGeom>
        </p:spPr>
      </p:pic>
      <p:sp>
        <p:nvSpPr>
          <p:cNvPr id="47" name="Text 35"/>
          <p:cNvSpPr txBox="1"/>
          <p:nvPr/>
        </p:nvSpPr>
        <p:spPr>
          <a:xfrm>
            <a:off x="9966960" y="443484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 Web page</a:t>
            </a:r>
            <a:endParaRPr lang="en-US" sz="1500" dirty="0"/>
          </a:p>
        </p:txBody>
      </p:sp>
      <p:sp>
        <p:nvSpPr>
          <p:cNvPr id="48" name="Text 36"/>
          <p:cNvSpPr txBox="1"/>
          <p:nvPr/>
        </p:nvSpPr>
        <p:spPr>
          <a:xfrm>
            <a:off x="10012680" y="480060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buttons · HTML + PDF</a:t>
            </a:r>
            <a:endParaRPr lang="en-US" sz="1200" dirty="0"/>
          </a:p>
        </p:txBody>
      </p:sp>
      <p:sp>
        <p:nvSpPr>
          <p:cNvPr id="49" name="Shape 37"/>
          <p:cNvSpPr/>
          <p:nvPr/>
        </p:nvSpPr>
        <p:spPr>
          <a:xfrm>
            <a:off x="2331720" y="5440680"/>
            <a:ext cx="5715000" cy="347472"/>
          </a:xfrm>
          <a:prstGeom prst="roundRect">
            <a:avLst>
              <a:gd name="adj" fmla="val 50000"/>
            </a:avLst>
          </a:prstGeom>
          <a:solidFill>
            <a:srgbClr val="EAF5E4"/>
          </a:solidFill>
          <a:ln w="12700">
            <a:solidFill>
              <a:srgbClr val="5DAE3B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50" name="Text 38"/>
          <p:cNvSpPr txBox="1"/>
          <p:nvPr/>
        </p:nvSpPr>
        <p:spPr>
          <a:xfrm>
            <a:off x="2331720" y="5440680"/>
            <a:ext cx="5715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 err="1">
                <a:solidFill>
                  <a:srgbClr val="3E8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Snakemake</a:t>
            </a:r>
            <a:r>
              <a:rPr lang="en-US" sz="1200" b="1" dirty="0">
                <a:solidFill>
                  <a:srgbClr val="3E8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rules</a:t>
            </a:r>
            <a:r>
              <a:rPr lang="en-DE" sz="1200" b="1" dirty="0">
                <a:solidFill>
                  <a:srgbClr val="3E8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200" b="1" dirty="0">
                <a:solidFill>
                  <a:srgbClr val="3E8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declared inputs/outputs, unchanged steps skipped</a:t>
            </a:r>
            <a:endParaRPr lang="en-US" sz="1200" dirty="0"/>
          </a:p>
        </p:txBody>
      </p:sp>
      <p:sp>
        <p:nvSpPr>
          <p:cNvPr id="51" name="Text 39"/>
          <p:cNvSpPr txBox="1"/>
          <p:nvPr/>
        </p:nvSpPr>
        <p:spPr>
          <a:xfrm>
            <a:off x="457200" y="594360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reports read the same cleaned table, so their numbers cannot disagree.</a:t>
            </a:r>
            <a:endParaRPr lang="en-US" sz="1400" dirty="0"/>
          </a:p>
        </p:txBody>
      </p:sp>
      <p:sp>
        <p:nvSpPr>
          <p:cNvPr id="5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  <p:sp>
        <p:nvSpPr>
          <p:cNvPr id="53" name="Arrow: Right 52">
            <a:extLst>
              <a:ext uri="{FF2B5EF4-FFF2-40B4-BE49-F238E27FC236}">
                <a16:creationId xmlns:a16="http://schemas.microsoft.com/office/drawing/2014/main" id="{F79A7B16-ED42-63F8-2194-1694D72DDB5A}"/>
              </a:ext>
            </a:extLst>
          </p:cNvPr>
          <p:cNvSpPr/>
          <p:nvPr/>
        </p:nvSpPr>
        <p:spPr>
          <a:xfrm>
            <a:off x="1931469" y="3665821"/>
            <a:ext cx="800501" cy="3950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4" name="Arrow: Right 53">
            <a:extLst>
              <a:ext uri="{FF2B5EF4-FFF2-40B4-BE49-F238E27FC236}">
                <a16:creationId xmlns:a16="http://schemas.microsoft.com/office/drawing/2014/main" id="{655D2994-A10F-A540-B5B1-DC8CB74CC964}"/>
              </a:ext>
            </a:extLst>
          </p:cNvPr>
          <p:cNvSpPr/>
          <p:nvPr/>
        </p:nvSpPr>
        <p:spPr>
          <a:xfrm>
            <a:off x="3817219" y="3620102"/>
            <a:ext cx="800501" cy="3950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5" name="Arrow: Right 54">
            <a:extLst>
              <a:ext uri="{FF2B5EF4-FFF2-40B4-BE49-F238E27FC236}">
                <a16:creationId xmlns:a16="http://schemas.microsoft.com/office/drawing/2014/main" id="{6DEE6B15-E6D6-406D-E340-D4A2504D9E9B}"/>
              </a:ext>
            </a:extLst>
          </p:cNvPr>
          <p:cNvSpPr/>
          <p:nvPr/>
        </p:nvSpPr>
        <p:spPr>
          <a:xfrm>
            <a:off x="5747004" y="3590825"/>
            <a:ext cx="800501" cy="3950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6" name="Arrow: Right 55">
            <a:extLst>
              <a:ext uri="{FF2B5EF4-FFF2-40B4-BE49-F238E27FC236}">
                <a16:creationId xmlns:a16="http://schemas.microsoft.com/office/drawing/2014/main" id="{82848722-7DE0-CF60-7758-DEAC3317E37E}"/>
              </a:ext>
            </a:extLst>
          </p:cNvPr>
          <p:cNvSpPr/>
          <p:nvPr/>
        </p:nvSpPr>
        <p:spPr>
          <a:xfrm>
            <a:off x="7641697" y="3582603"/>
            <a:ext cx="800501" cy="3950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57" name="Arrow: Right 56">
            <a:extLst>
              <a:ext uri="{FF2B5EF4-FFF2-40B4-BE49-F238E27FC236}">
                <a16:creationId xmlns:a16="http://schemas.microsoft.com/office/drawing/2014/main" id="{2CAEC5B6-1573-ADB9-6B2B-CAE19F1D2D74}"/>
              </a:ext>
            </a:extLst>
          </p:cNvPr>
          <p:cNvSpPr/>
          <p:nvPr/>
        </p:nvSpPr>
        <p:spPr>
          <a:xfrm>
            <a:off x="9555480" y="3578552"/>
            <a:ext cx="800501" cy="39503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365760" y="231488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Numbers you can </a:t>
            </a:r>
            <a:r>
              <a:rPr lang="en-US" sz="3400" b="1" dirty="0">
                <a:solidFill>
                  <a:srgbClr val="5DA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</a:t>
            </a: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3400" b="1" dirty="0">
                <a:solidFill>
                  <a:srgbClr val="5DA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685800" y="1691640"/>
            <a:ext cx="594360" cy="594360"/>
          </a:xfrm>
          <a:prstGeom prst="ellipse">
            <a:avLst/>
          </a:prstGeom>
          <a:solidFill>
            <a:srgbClr val="D64545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390" y="1840230"/>
            <a:ext cx="297180" cy="2971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78308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quality gate that blocks</a:t>
            </a:r>
            <a:endParaRPr lang="en-US" sz="19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548640" y="2331720"/>
          <a:ext cx="27432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Text 5"/>
          <p:cNvSpPr txBox="1"/>
          <p:nvPr/>
        </p:nvSpPr>
        <p:spPr>
          <a:xfrm>
            <a:off x="1234440" y="3337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370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1234440" y="374904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3429000" y="2606040"/>
            <a:ext cx="201168" cy="201168"/>
          </a:xfrm>
          <a:prstGeom prst="ellipse">
            <a:avLst/>
          </a:prstGeom>
          <a:solidFill>
            <a:srgbClr val="5DAE3B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2" name="Text 8"/>
          <p:cNvSpPr txBox="1"/>
          <p:nvPr/>
        </p:nvSpPr>
        <p:spPr>
          <a:xfrm>
            <a:off x="3730752" y="251460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347  </a:t>
            </a: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passed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3429000" y="3172968"/>
            <a:ext cx="201168" cy="201168"/>
          </a:xfrm>
          <a:prstGeom prst="ellipse">
            <a:avLst/>
          </a:prstGeom>
          <a:solidFill>
            <a:srgbClr val="A9B4C2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4" name="Text 10"/>
          <p:cNvSpPr txBox="1"/>
          <p:nvPr/>
        </p:nvSpPr>
        <p:spPr>
          <a:xfrm>
            <a:off x="3730752" y="30815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 </a:t>
            </a: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skipped — not applicable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3429000" y="3739896"/>
            <a:ext cx="201168" cy="201168"/>
          </a:xfrm>
          <a:prstGeom prst="ellipse">
            <a:avLst/>
          </a:prstGeom>
          <a:solidFill>
            <a:srgbClr val="F2B33D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6" name="Text 12"/>
          <p:cNvSpPr txBox="1"/>
          <p:nvPr/>
        </p:nvSpPr>
        <p:spPr>
          <a:xfrm>
            <a:off x="3730752" y="3648456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 </a:t>
            </a: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warnings — wastewater, explained</a:t>
            </a:r>
            <a:endParaRPr lang="en-US" sz="2000" dirty="0"/>
          </a:p>
        </p:txBody>
      </p:sp>
      <p:sp>
        <p:nvSpPr>
          <p:cNvPr id="17" name="Shape 13"/>
          <p:cNvSpPr/>
          <p:nvPr/>
        </p:nvSpPr>
        <p:spPr>
          <a:xfrm>
            <a:off x="3429000" y="4306824"/>
            <a:ext cx="201168" cy="201168"/>
          </a:xfrm>
          <a:prstGeom prst="ellipse">
            <a:avLst/>
          </a:prstGeom>
          <a:solidFill>
            <a:srgbClr val="D64545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18" name="Text 14"/>
          <p:cNvSpPr txBox="1"/>
          <p:nvPr/>
        </p:nvSpPr>
        <p:spPr>
          <a:xfrm>
            <a:off x="3730752" y="4215384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 </a:t>
            </a: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</a:t>
            </a:r>
            <a:endParaRPr lang="en-US" sz="2000" dirty="0"/>
          </a:p>
        </p:txBody>
      </p:sp>
      <p:sp>
        <p:nvSpPr>
          <p:cNvPr id="19" name="Text 15"/>
          <p:cNvSpPr txBox="1"/>
          <p:nvPr/>
        </p:nvSpPr>
        <p:spPr>
          <a:xfrm>
            <a:off x="685800" y="516636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Duplicates · unparseable periods · negative or non-numeric counts · year = Σ months · cantons = national total. Skipped is never reported as passed.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6263640" y="1508760"/>
            <a:ext cx="5468112" cy="4526280"/>
          </a:xfrm>
          <a:prstGeom prst="roundRect">
            <a:avLst>
              <a:gd name="adj" fmla="val 2424"/>
            </a:avLst>
          </a:prstGeom>
          <a:solidFill>
            <a:srgbClr val="0F1B33"/>
          </a:solidFill>
          <a:ln w="12700">
            <a:solidFill>
              <a:srgbClr val="0F1B33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1" name="Shape 17"/>
          <p:cNvSpPr/>
          <p:nvPr/>
        </p:nvSpPr>
        <p:spPr>
          <a:xfrm>
            <a:off x="6492240" y="1691640"/>
            <a:ext cx="594360" cy="594360"/>
          </a:xfrm>
          <a:prstGeom prst="ellipse">
            <a:avLst/>
          </a:prstGeom>
          <a:solidFill>
            <a:srgbClr val="2F6FD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0830" y="1840230"/>
            <a:ext cx="297180" cy="29718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223760" y="178308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 carries its record</a:t>
            </a:r>
            <a:endParaRPr lang="en-US" sz="1900" dirty="0"/>
          </a:p>
        </p:txBody>
      </p:sp>
      <p:sp>
        <p:nvSpPr>
          <p:cNvPr id="24" name="Text 19"/>
          <p:cNvSpPr txBox="1"/>
          <p:nvPr/>
        </p:nvSpPr>
        <p:spPr>
          <a:xfrm>
            <a:off x="6537960" y="2514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FB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source    </a:t>
            </a:r>
            <a:r>
              <a:rPr lang="en-US" sz="1300" dirty="0">
                <a:solidFill>
                  <a:srgbClr val="E5E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FOPH Infectious Diseases Dashboard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6537960" y="289864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FB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retrieved </a:t>
            </a:r>
            <a:r>
              <a:rPr lang="en-US" sz="1300" dirty="0">
                <a:solidFill>
                  <a:srgbClr val="E5E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2026-10-03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6537960" y="3282696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FB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sha256    </a:t>
            </a:r>
            <a:r>
              <a:rPr lang="en-US" sz="1300" dirty="0">
                <a:solidFill>
                  <a:srgbClr val="E5E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 raw file</a:t>
            </a:r>
            <a:endParaRPr lang="en-US" sz="1300" dirty="0"/>
          </a:p>
        </p:txBody>
      </p:sp>
      <p:sp>
        <p:nvSpPr>
          <p:cNvPr id="27" name="Text 22"/>
          <p:cNvSpPr txBox="1"/>
          <p:nvPr/>
        </p:nvSpPr>
        <p:spPr>
          <a:xfrm>
            <a:off x="6537960" y="3666744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FB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filters   </a:t>
            </a:r>
            <a:r>
              <a:rPr lang="en-US" sz="1300" dirty="0">
                <a:solidFill>
                  <a:srgbClr val="E5E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audience · indicators · window</a:t>
            </a:r>
            <a:endParaRPr lang="en-US" sz="1300" dirty="0"/>
          </a:p>
        </p:txBody>
      </p:sp>
      <p:sp>
        <p:nvSpPr>
          <p:cNvPr id="28" name="Text 23"/>
          <p:cNvSpPr txBox="1"/>
          <p:nvPr/>
        </p:nvSpPr>
        <p:spPr>
          <a:xfrm>
            <a:off x="6537960" y="405079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FB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      </a:t>
            </a:r>
            <a:r>
              <a:rPr lang="en-US" sz="1300" dirty="0">
                <a:solidFill>
                  <a:srgbClr val="E5E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</a:t>
            </a:r>
            <a:endParaRPr lang="en-US" sz="1300" dirty="0"/>
          </a:p>
        </p:txBody>
      </p:sp>
      <p:sp>
        <p:nvSpPr>
          <p:cNvPr id="29" name="Text 24"/>
          <p:cNvSpPr txBox="1"/>
          <p:nvPr/>
        </p:nvSpPr>
        <p:spPr>
          <a:xfrm>
            <a:off x="6537960" y="44348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FB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software  </a:t>
            </a:r>
            <a:r>
              <a:rPr lang="en-US" sz="1300" dirty="0">
                <a:solidFill>
                  <a:srgbClr val="E5E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 / Python / Quarto versions</a:t>
            </a:r>
            <a:endParaRPr lang="en-US" sz="1300" dirty="0"/>
          </a:p>
        </p:txBody>
      </p:sp>
      <p:sp>
        <p:nvSpPr>
          <p:cNvPr id="30" name="Text 25"/>
          <p:cNvSpPr txBox="1"/>
          <p:nvPr/>
        </p:nvSpPr>
        <p:spPr>
          <a:xfrm>
            <a:off x="6537960" y="481888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7FB3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rendered  </a:t>
            </a:r>
            <a:r>
              <a:rPr lang="en-US" sz="1300" dirty="0">
                <a:solidFill>
                  <a:srgbClr val="E5ECF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timestamp</a:t>
            </a:r>
            <a:endParaRPr lang="en-US" sz="1300" dirty="0"/>
          </a:p>
        </p:txBody>
      </p:sp>
      <p:sp>
        <p:nvSpPr>
          <p:cNvPr id="31" name="Text 26"/>
          <p:cNvSpPr txBox="1"/>
          <p:nvPr/>
        </p:nvSpPr>
        <p:spPr>
          <a:xfrm>
            <a:off x="6537960" y="52578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B9C6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Machine-readable, embedded in the HTML, downloadable as JSON. Send one file — the trail travels with it.</a:t>
            </a:r>
            <a:endParaRPr lang="en-US" sz="13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 txBox="1"/>
          <p:nvPr/>
        </p:nvSpPr>
        <p:spPr>
          <a:xfrm>
            <a:off x="472440" y="283464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numbers</a:t>
            </a:r>
            <a:r>
              <a:rPr lang="en-DE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3400" b="1" dirty="0">
                <a:solidFill>
                  <a:srgbClr val="5DA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 shape.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508760"/>
            <a:ext cx="512064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28575">
            <a:solidFill>
              <a:schemeClr val="tx1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5" name="Shape 3"/>
          <p:cNvSpPr/>
          <p:nvPr/>
        </p:nvSpPr>
        <p:spPr>
          <a:xfrm>
            <a:off x="519363" y="1559052"/>
            <a:ext cx="4950995" cy="384048"/>
          </a:xfrm>
          <a:prstGeom prst="rect">
            <a:avLst/>
          </a:prstGeom>
          <a:solidFill>
            <a:srgbClr val="F1F5FB"/>
          </a:solidFill>
          <a:ln w="12700">
            <a:solidFill>
              <a:srgbClr val="D7DFEA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6" name="Shape 4"/>
          <p:cNvSpPr/>
          <p:nvPr/>
        </p:nvSpPr>
        <p:spPr>
          <a:xfrm>
            <a:off x="640080" y="1645920"/>
            <a:ext cx="118872" cy="118872"/>
          </a:xfrm>
          <a:prstGeom prst="ellipse">
            <a:avLst/>
          </a:prstGeom>
          <a:solidFill>
            <a:srgbClr val="D64545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7" name="Shape 5"/>
          <p:cNvSpPr/>
          <p:nvPr/>
        </p:nvSpPr>
        <p:spPr>
          <a:xfrm>
            <a:off x="841248" y="1645920"/>
            <a:ext cx="118872" cy="118872"/>
          </a:xfrm>
          <a:prstGeom prst="ellipse">
            <a:avLst/>
          </a:prstGeom>
          <a:solidFill>
            <a:srgbClr val="F2B33D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8" name="Shape 6"/>
          <p:cNvSpPr/>
          <p:nvPr/>
        </p:nvSpPr>
        <p:spPr>
          <a:xfrm>
            <a:off x="1042416" y="1645920"/>
            <a:ext cx="118872" cy="118872"/>
          </a:xfrm>
          <a:prstGeom prst="ellipse">
            <a:avLst/>
          </a:prstGeom>
          <a:solidFill>
            <a:srgbClr val="5DAE3B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9" name="Text 7"/>
          <p:cNvSpPr txBox="1"/>
          <p:nvPr/>
        </p:nvSpPr>
        <p:spPr>
          <a:xfrm>
            <a:off x="1371600" y="157276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latin typeface="Consolas" pitchFamily="34" charset="0"/>
                <a:ea typeface="Consolas" pitchFamily="34" charset="-122"/>
                <a:cs typeface="Consolas" pitchFamily="34" charset="-120"/>
              </a:rPr>
              <a:t>health-report-generator · web page</a:t>
            </a:r>
            <a:endParaRPr lang="en-US" sz="1400" b="1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057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are you?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31520" y="2560320"/>
            <a:ext cx="2240280" cy="548640"/>
          </a:xfrm>
          <a:prstGeom prst="roundRect">
            <a:avLst>
              <a:gd name="adj" fmla="val 16667"/>
            </a:avLst>
          </a:prstGeom>
          <a:solidFill>
            <a:srgbClr val="1A9E8F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697480"/>
            <a:ext cx="274320" cy="2743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188720" y="25603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health officials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731520" y="329184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Levels at a glance: 16 / 10 / 3 / 3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chart per flagged indicator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cantons · burden vs last year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154680" y="2560320"/>
            <a:ext cx="2240280" cy="548640"/>
          </a:xfrm>
          <a:prstGeom prst="roundRect">
            <a:avLst>
              <a:gd name="adj" fmla="val 16667"/>
            </a:avLst>
          </a:prstGeom>
          <a:solidFill>
            <a:srgbClr val="2F6FD0"/>
          </a:solidFill>
          <a:ln/>
        </p:spPr>
        <p:txBody>
          <a:bodyPr/>
          <a:lstStyle/>
          <a:p>
            <a:endParaRPr lang="en-DE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40" y="269748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3611880" y="256032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Researchers</a:t>
            </a:r>
            <a:endParaRPr lang="en-US" sz="1250" dirty="0"/>
          </a:p>
        </p:txBody>
      </p:sp>
      <p:sp>
        <p:nvSpPr>
          <p:cNvPr id="18" name="Text 14"/>
          <p:cNvSpPr txBox="1"/>
          <p:nvPr/>
        </p:nvSpPr>
        <p:spPr>
          <a:xfrm>
            <a:off x="3154680" y="3291840"/>
            <a:ext cx="2240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Coverage, quality checks, methods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 since 2013 · age &amp; canton</a:t>
            </a:r>
            <a:endParaRPr lang="en-US" sz="1200" dirty="0"/>
          </a:p>
          <a:p>
            <a:pPr marL="152400" indent="-1524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“Show code” under every chart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731520" y="53949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+ PDF for each · same cleaned table underneath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5943600" y="150876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data says now</a:t>
            </a:r>
            <a:endParaRPr lang="en-US" sz="1900" dirty="0"/>
          </a:p>
        </p:txBody>
      </p:sp>
      <p:sp>
        <p:nvSpPr>
          <p:cNvPr id="21" name="Text 17"/>
          <p:cNvSpPr txBox="1"/>
          <p:nvPr/>
        </p:nvSpPr>
        <p:spPr>
          <a:xfrm>
            <a:off x="5943600" y="1874520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6 of 16 indicators above their usual level · latest value ÷ usual (median of same period, past years)</a:t>
            </a:r>
            <a:endParaRPr lang="en-US" sz="1200" dirty="0"/>
          </a:p>
        </p:txBody>
      </p:sp>
      <p:graphicFrame>
        <p:nvGraphicFramePr>
          <p:cNvPr id="22" name="Chart 0"/>
          <p:cNvGraphicFramePr/>
          <p:nvPr/>
        </p:nvGraphicFramePr>
        <p:xfrm>
          <a:off x="5852160" y="2331720"/>
          <a:ext cx="589788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23" name="Shape 18"/>
          <p:cNvSpPr/>
          <p:nvPr/>
        </p:nvSpPr>
        <p:spPr>
          <a:xfrm>
            <a:off x="5989320" y="5468112"/>
            <a:ext cx="164592" cy="164592"/>
          </a:xfrm>
          <a:prstGeom prst="ellipse">
            <a:avLst/>
          </a:prstGeom>
          <a:solidFill>
            <a:srgbClr val="D64545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4" name="Text 19"/>
          <p:cNvSpPr txBox="1"/>
          <p:nvPr/>
        </p:nvSpPr>
        <p:spPr>
          <a:xfrm>
            <a:off x="6217920" y="541324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high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7406640" y="5468112"/>
            <a:ext cx="164592" cy="164592"/>
          </a:xfrm>
          <a:prstGeom prst="ellipse">
            <a:avLst/>
          </a:prstGeom>
          <a:solidFill>
            <a:srgbClr val="E8862E"/>
          </a:solidFill>
          <a:ln/>
        </p:spPr>
        <p:txBody>
          <a:bodyPr/>
          <a:lstStyle/>
          <a:p>
            <a:endParaRPr lang="en-DE"/>
          </a:p>
        </p:txBody>
      </p:sp>
      <p:sp>
        <p:nvSpPr>
          <p:cNvPr id="26" name="Text 21"/>
          <p:cNvSpPr txBox="1"/>
          <p:nvPr/>
        </p:nvSpPr>
        <p:spPr>
          <a:xfrm>
            <a:off x="7635240" y="54132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above normal</a:t>
            </a:r>
            <a:endParaRPr 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5943600" y="5715000"/>
            <a:ext cx="5806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Story: food-borne infections — EHEC +28%, Campylobacter +24% year to date. Influenza = 53 off-season cases: an early signal, not an outbreak.</a:t>
            </a:r>
            <a:endParaRPr lang="en-US" sz="1200" dirty="0"/>
          </a:p>
        </p:txBody>
      </p:sp>
      <p:sp>
        <p:nvSpPr>
          <p:cNvPr id="28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8FD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· ~1:50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8580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we’ll show, </a:t>
            </a:r>
            <a:r>
              <a:rPr lang="en-US" sz="3400" b="1" dirty="0">
                <a:solidFill>
                  <a:srgbClr val="5DA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order.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2651760" cy="2743200"/>
          </a:xfrm>
          <a:prstGeom prst="roundRect">
            <a:avLst>
              <a:gd name="adj" fmla="val 4138"/>
            </a:avLst>
          </a:prstGeom>
          <a:solidFill>
            <a:srgbClr val="1E2E52"/>
          </a:solidFill>
          <a:ln w="12700">
            <a:solidFill>
              <a:srgbClr val="2D4170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5" name="Shape 3"/>
          <p:cNvSpPr/>
          <p:nvPr/>
        </p:nvSpPr>
        <p:spPr>
          <a:xfrm>
            <a:off x="731520" y="2057400"/>
            <a:ext cx="822960" cy="822960"/>
          </a:xfrm>
          <a:prstGeom prst="ellipse">
            <a:avLst/>
          </a:prstGeom>
          <a:solidFill>
            <a:srgbClr val="5DAE3B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2263140"/>
            <a:ext cx="411480" cy="411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377440" y="21031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0632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page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3C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buttons, one per stakeholder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291840" y="1828800"/>
            <a:ext cx="2651760" cy="2743200"/>
          </a:xfrm>
          <a:prstGeom prst="roundRect">
            <a:avLst>
              <a:gd name="adj" fmla="val 4138"/>
            </a:avLst>
          </a:prstGeom>
          <a:solidFill>
            <a:srgbClr val="1E2E52"/>
          </a:solidFill>
          <a:ln w="12700">
            <a:solidFill>
              <a:srgbClr val="2D4170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1" name="Shape 8"/>
          <p:cNvSpPr/>
          <p:nvPr/>
        </p:nvSpPr>
        <p:spPr>
          <a:xfrm>
            <a:off x="3566160" y="2057400"/>
            <a:ext cx="822960" cy="822960"/>
          </a:xfrm>
          <a:prstGeom prst="ellipse">
            <a:avLst/>
          </a:prstGeom>
          <a:solidFill>
            <a:srgbClr val="1A9E8F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71900" y="2263140"/>
            <a:ext cx="411480" cy="41148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5212080" y="21031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3566160" y="30632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health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3566160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3C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cards → level table → one trend chart → cantons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126480" y="1828800"/>
            <a:ext cx="2651760" cy="2743200"/>
          </a:xfrm>
          <a:prstGeom prst="roundRect">
            <a:avLst>
              <a:gd name="adj" fmla="val 4138"/>
            </a:avLst>
          </a:prstGeom>
          <a:solidFill>
            <a:srgbClr val="1E2E52"/>
          </a:solidFill>
          <a:ln w="12700">
            <a:solidFill>
              <a:srgbClr val="2D4170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7" name="Shape 13"/>
          <p:cNvSpPr/>
          <p:nvPr/>
        </p:nvSpPr>
        <p:spPr>
          <a:xfrm>
            <a:off x="6400800" y="2057400"/>
            <a:ext cx="822960" cy="822960"/>
          </a:xfrm>
          <a:prstGeom prst="ellipse">
            <a:avLst/>
          </a:prstGeom>
          <a:solidFill>
            <a:srgbClr val="2F6FD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6540" y="2263140"/>
            <a:ext cx="411480" cy="41148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046720" y="21031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600" dirty="0"/>
          </a:p>
        </p:txBody>
      </p:sp>
      <p:sp>
        <p:nvSpPr>
          <p:cNvPr id="20" name="Text 15"/>
          <p:cNvSpPr txBox="1"/>
          <p:nvPr/>
        </p:nvSpPr>
        <p:spPr>
          <a:xfrm>
            <a:off x="6400800" y="30632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Researchers</a:t>
            </a:r>
            <a:endParaRPr lang="en-US" sz="1900" dirty="0"/>
          </a:p>
        </p:txBody>
      </p:sp>
      <p:sp>
        <p:nvSpPr>
          <p:cNvPr id="21" name="Text 16"/>
          <p:cNvSpPr txBox="1"/>
          <p:nvPr/>
        </p:nvSpPr>
        <p:spPr>
          <a:xfrm>
            <a:off x="6400800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3C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checks → methods → “Show code”</a:t>
            </a:r>
            <a:endParaRPr lang="en-US" sz="1300" dirty="0"/>
          </a:p>
        </p:txBody>
      </p:sp>
      <p:sp>
        <p:nvSpPr>
          <p:cNvPr id="22" name="Shape 17"/>
          <p:cNvSpPr/>
          <p:nvPr/>
        </p:nvSpPr>
        <p:spPr>
          <a:xfrm>
            <a:off x="8961120" y="1828800"/>
            <a:ext cx="2651760" cy="2743200"/>
          </a:xfrm>
          <a:prstGeom prst="roundRect">
            <a:avLst>
              <a:gd name="adj" fmla="val 4138"/>
            </a:avLst>
          </a:prstGeom>
          <a:solidFill>
            <a:srgbClr val="1E2E52"/>
          </a:solidFill>
          <a:ln w="12700">
            <a:solidFill>
              <a:srgbClr val="2D4170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3" name="Shape 18"/>
          <p:cNvSpPr/>
          <p:nvPr/>
        </p:nvSpPr>
        <p:spPr>
          <a:xfrm>
            <a:off x="9235440" y="2057400"/>
            <a:ext cx="822960" cy="822960"/>
          </a:xfrm>
          <a:prstGeom prst="ellipse">
            <a:avLst/>
          </a:prstGeom>
          <a:solidFill>
            <a:srgbClr val="F2B33D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41180" y="2263140"/>
            <a:ext cx="411480" cy="41148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10881360" y="210312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8EA0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600" dirty="0"/>
          </a:p>
        </p:txBody>
      </p:sp>
      <p:sp>
        <p:nvSpPr>
          <p:cNvPr id="26" name="Text 20"/>
          <p:cNvSpPr txBox="1"/>
          <p:nvPr/>
        </p:nvSpPr>
        <p:spPr>
          <a:xfrm>
            <a:off x="9235440" y="306324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Provenance</a:t>
            </a:r>
            <a:endParaRPr lang="en-US" sz="1900" dirty="0"/>
          </a:p>
        </p:txBody>
      </p:sp>
      <p:sp>
        <p:nvSpPr>
          <p:cNvPr id="27" name="Text 21"/>
          <p:cNvSpPr txBox="1"/>
          <p:nvPr/>
        </p:nvSpPr>
        <p:spPr>
          <a:xfrm>
            <a:off x="9235440" y="35204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C3CF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record · download JSON</a:t>
            </a:r>
            <a:endParaRPr lang="en-US" sz="1300" dirty="0"/>
          </a:p>
        </p:txBody>
      </p:sp>
      <p:sp>
        <p:nvSpPr>
          <p:cNvPr id="28" name="Shape 22"/>
          <p:cNvSpPr/>
          <p:nvPr/>
        </p:nvSpPr>
        <p:spPr>
          <a:xfrm>
            <a:off x="457200" y="4937760"/>
            <a:ext cx="11247120" cy="822960"/>
          </a:xfrm>
          <a:prstGeom prst="roundRect">
            <a:avLst>
              <a:gd name="adj" fmla="val 13333"/>
            </a:avLst>
          </a:prstGeom>
          <a:solidFill>
            <a:srgbClr val="1E2E52"/>
          </a:solidFill>
          <a:ln w="12700">
            <a:solidFill>
              <a:srgbClr val="F2B33D"/>
            </a:solidFill>
            <a:prstDash val="dash"/>
          </a:ln>
        </p:spPr>
        <p:txBody>
          <a:bodyPr/>
          <a:lstStyle/>
          <a:p>
            <a:endParaRPr lang="en-DE"/>
          </a:p>
        </p:txBody>
      </p:sp>
      <p:sp>
        <p:nvSpPr>
          <p:cNvPr id="29" name="Shape 23"/>
          <p:cNvSpPr/>
          <p:nvPr/>
        </p:nvSpPr>
        <p:spPr>
          <a:xfrm>
            <a:off x="640080" y="5029200"/>
            <a:ext cx="640080" cy="640080"/>
          </a:xfrm>
          <a:prstGeom prst="ellipse">
            <a:avLst/>
          </a:prstGeom>
          <a:solidFill>
            <a:srgbClr val="F2B33D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0100" y="5189220"/>
            <a:ext cx="320040" cy="320040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1463040" y="493776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2B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buttons: </a:t>
            </a:r>
            <a:r>
              <a:rPr lang="en-US" sz="1400" dirty="0">
                <a:solidFill>
                  <a:srgbClr val="E5E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Marimo panel picks audience + diseases and dispatches a GitHub Actions run — the run is the audit trail (inputs, data version, commit).</a:t>
            </a:r>
            <a:endParaRPr lang="en-US" sz="14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EA0C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3E8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LIMITS &amp; NEXT STEPS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8580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</a:t>
            </a:r>
            <a:r>
              <a:rPr lang="en-US" sz="34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r>
              <a:rPr lang="en-US" sz="3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claim.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reports are descriptive — and every limit here is also written in the reports.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361188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7DFEA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6" name="Shape 4"/>
          <p:cNvSpPr/>
          <p:nvPr/>
        </p:nvSpPr>
        <p:spPr>
          <a:xfrm>
            <a:off x="685800" y="2194560"/>
            <a:ext cx="640080" cy="640080"/>
          </a:xfrm>
          <a:prstGeom prst="ellipse">
            <a:avLst/>
          </a:prstGeom>
          <a:solidFill>
            <a:srgbClr val="94A3B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" y="2354580"/>
            <a:ext cx="320040" cy="3200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85800" y="2926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≠ all infections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31012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Counts depend on who is tested and reported; GP figures are sample-based estimates.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251960" y="2011680"/>
            <a:ext cx="361188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7DFEA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1" name="Shape 8"/>
          <p:cNvSpPr/>
          <p:nvPr/>
        </p:nvSpPr>
        <p:spPr>
          <a:xfrm>
            <a:off x="4480560" y="2194560"/>
            <a:ext cx="640080" cy="640080"/>
          </a:xfrm>
          <a:prstGeom prst="ellipse">
            <a:avLst/>
          </a:prstGeom>
          <a:solidFill>
            <a:srgbClr val="94A3B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0580" y="235458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480560" y="2926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statistical testing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4480560" y="331012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Levels compare with past years; small counts can flip level on a handful of cases. COVID-19 window includes pandemic years.</a:t>
            </a:r>
            <a:endParaRPr lang="en-US" sz="1250" dirty="0"/>
          </a:p>
        </p:txBody>
      </p:sp>
      <p:sp>
        <p:nvSpPr>
          <p:cNvPr id="15" name="Shape 11"/>
          <p:cNvSpPr/>
          <p:nvPr/>
        </p:nvSpPr>
        <p:spPr>
          <a:xfrm>
            <a:off x="8046720" y="2011680"/>
            <a:ext cx="361188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D7DFEA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6" name="Shape 12"/>
          <p:cNvSpPr/>
          <p:nvPr/>
        </p:nvSpPr>
        <p:spPr>
          <a:xfrm>
            <a:off x="8275320" y="2194560"/>
            <a:ext cx="640080" cy="640080"/>
          </a:xfrm>
          <a:prstGeom prst="ellipse">
            <a:avLst/>
          </a:prstGeom>
          <a:solidFill>
            <a:srgbClr val="94A3B8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5340" y="2354580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75320" y="2926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official guidance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8275320" y="3310128"/>
            <a:ext cx="3200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hackathon prototype on FOPH open data, not an FOPH publication.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457200" y="4526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3E8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200" dirty="0"/>
          </a:p>
        </p:txBody>
      </p:sp>
      <p:sp>
        <p:nvSpPr>
          <p:cNvPr id="21" name="Shape 16"/>
          <p:cNvSpPr/>
          <p:nvPr/>
        </p:nvSpPr>
        <p:spPr>
          <a:xfrm>
            <a:off x="457200" y="489204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EAF5E4"/>
          </a:solidFill>
          <a:ln w="12700">
            <a:solidFill>
              <a:srgbClr val="CFE6C2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2" name="Shape 17"/>
          <p:cNvSpPr/>
          <p:nvPr/>
        </p:nvSpPr>
        <p:spPr>
          <a:xfrm>
            <a:off x="594360" y="5029200"/>
            <a:ext cx="594360" cy="594360"/>
          </a:xfrm>
          <a:prstGeom prst="ellipse">
            <a:avLst/>
          </a:prstGeom>
          <a:solidFill>
            <a:srgbClr val="5DAE3B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950" y="5177790"/>
            <a:ext cx="297180" cy="29718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325880" y="489204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Wastewater + lab positivity as early warning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3291840" y="489204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EAF5E4"/>
          </a:solidFill>
          <a:ln w="12700">
            <a:solidFill>
              <a:srgbClr val="CFE6C2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6" name="Shape 20"/>
          <p:cNvSpPr/>
          <p:nvPr/>
        </p:nvSpPr>
        <p:spPr>
          <a:xfrm>
            <a:off x="3429000" y="5029200"/>
            <a:ext cx="594360" cy="594360"/>
          </a:xfrm>
          <a:prstGeom prst="ellipse">
            <a:avLst/>
          </a:prstGeom>
          <a:solidFill>
            <a:srgbClr val="5DAE3B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77590" y="5177790"/>
            <a:ext cx="297180" cy="29718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160520" y="489204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audiences: clinicians, cantons, public</a:t>
            </a:r>
            <a:endParaRPr lang="en-US" sz="1250" dirty="0"/>
          </a:p>
        </p:txBody>
      </p:sp>
      <p:sp>
        <p:nvSpPr>
          <p:cNvPr id="29" name="Shape 22"/>
          <p:cNvSpPr/>
          <p:nvPr/>
        </p:nvSpPr>
        <p:spPr>
          <a:xfrm>
            <a:off x="6126480" y="489204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EAF5E4"/>
          </a:solidFill>
          <a:ln w="12700">
            <a:solidFill>
              <a:srgbClr val="CFE6C2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0" name="Shape 23"/>
          <p:cNvSpPr/>
          <p:nvPr/>
        </p:nvSpPr>
        <p:spPr>
          <a:xfrm>
            <a:off x="6263640" y="5029200"/>
            <a:ext cx="594360" cy="594360"/>
          </a:xfrm>
          <a:prstGeom prst="ellipse">
            <a:avLst/>
          </a:prstGeom>
          <a:solidFill>
            <a:srgbClr val="5DAE3B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12230" y="5177790"/>
            <a:ext cx="297180" cy="29718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6995160" y="489204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· FR · IT reports</a:t>
            </a:r>
            <a:endParaRPr lang="en-US" sz="1250" dirty="0"/>
          </a:p>
        </p:txBody>
      </p:sp>
      <p:sp>
        <p:nvSpPr>
          <p:cNvPr id="33" name="Shape 25"/>
          <p:cNvSpPr/>
          <p:nvPr/>
        </p:nvSpPr>
        <p:spPr>
          <a:xfrm>
            <a:off x="8961120" y="4892040"/>
            <a:ext cx="2697480" cy="868680"/>
          </a:xfrm>
          <a:prstGeom prst="roundRect">
            <a:avLst>
              <a:gd name="adj" fmla="val 12632"/>
            </a:avLst>
          </a:prstGeom>
          <a:solidFill>
            <a:srgbClr val="EAF5E4"/>
          </a:solidFill>
          <a:ln w="12700">
            <a:solidFill>
              <a:srgbClr val="CFE6C2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34" name="Shape 26"/>
          <p:cNvSpPr/>
          <p:nvPr/>
        </p:nvSpPr>
        <p:spPr>
          <a:xfrm>
            <a:off x="9098280" y="5029200"/>
            <a:ext cx="594360" cy="594360"/>
          </a:xfrm>
          <a:prstGeom prst="ellipse">
            <a:avLst/>
          </a:prstGeom>
          <a:solidFill>
            <a:srgbClr val="5DAE3B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246870" y="5177790"/>
            <a:ext cx="297180" cy="29718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9829800" y="4892040"/>
            <a:ext cx="1783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Buttons trigger on-demand runs</a:t>
            </a:r>
            <a:endParaRPr lang="en-US" sz="125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3E8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685800"/>
            <a:ext cx="11247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</a:t>
            </a:r>
            <a:r>
              <a:rPr lang="en-US" sz="4000" b="1" dirty="0">
                <a:solidFill>
                  <a:srgbClr val="5DA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default.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630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deliverable is a workflow anyone can re-run — with a report for each audience at the end.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731520" cy="731520"/>
          </a:xfrm>
          <a:prstGeom prst="ellipse">
            <a:avLst/>
          </a:prstGeom>
          <a:solidFill>
            <a:srgbClr val="5DAE3B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31720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371600" y="217627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table, every report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25420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reports agree because they cannot disagree.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57200" y="3108960"/>
            <a:ext cx="731520" cy="731520"/>
          </a:xfrm>
          <a:prstGeom prst="ellipse">
            <a:avLst/>
          </a:prstGeom>
          <a:solidFill>
            <a:srgbClr val="2F6FD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329184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313639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audience = new template</a:t>
            </a:r>
            <a:endParaRPr lang="en-US" sz="18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350215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new pipeline to maintain.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57200" y="4069080"/>
            <a:ext cx="731520" cy="731520"/>
          </a:xfrm>
          <a:prstGeom prst="ellipse">
            <a:avLst/>
          </a:prstGeom>
          <a:solidFill>
            <a:srgbClr val="E8862E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251960"/>
            <a:ext cx="365760" cy="36576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371600" y="4096512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 states its origin</a:t>
            </a:r>
            <a:endParaRPr lang="en-US" sz="1800" dirty="0"/>
          </a:p>
        </p:txBody>
      </p:sp>
      <p:sp>
        <p:nvSpPr>
          <p:cNvPr id="16" name="Text 11"/>
          <p:cNvSpPr txBox="1"/>
          <p:nvPr/>
        </p:nvSpPr>
        <p:spPr>
          <a:xfrm>
            <a:off x="1371600" y="446227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data, which code, which settings.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949440" y="2148840"/>
            <a:ext cx="4754880" cy="777240"/>
          </a:xfrm>
          <a:prstGeom prst="roundRect">
            <a:avLst>
              <a:gd name="adj" fmla="val 14118"/>
            </a:avLst>
          </a:prstGeom>
          <a:solidFill>
            <a:srgbClr val="F1F5FB"/>
          </a:solidFill>
          <a:ln w="12700">
            <a:solidFill>
              <a:srgbClr val="D7DFEA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18" name="Shape 13"/>
          <p:cNvSpPr/>
          <p:nvPr/>
        </p:nvSpPr>
        <p:spPr>
          <a:xfrm>
            <a:off x="7086600" y="2240280"/>
            <a:ext cx="594360" cy="594360"/>
          </a:xfrm>
          <a:prstGeom prst="ellipse">
            <a:avLst/>
          </a:prstGeom>
          <a:solidFill>
            <a:srgbClr val="5DAE3B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pic>
        <p:nvPicPr>
          <p:cNvPr id="1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5190" y="2388870"/>
            <a:ext cx="297180" cy="29718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86384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Lars E. Baumann</a:t>
            </a:r>
            <a:endParaRPr lang="en-US" sz="1500" dirty="0"/>
          </a:p>
        </p:txBody>
      </p:sp>
      <p:sp>
        <p:nvSpPr>
          <p:cNvPr id="21" name="Text 15"/>
          <p:cNvSpPr txBox="1"/>
          <p:nvPr/>
        </p:nvSpPr>
        <p:spPr>
          <a:xfrm>
            <a:off x="7863840" y="2560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6949440" y="3108960"/>
            <a:ext cx="4754880" cy="777240"/>
          </a:xfrm>
          <a:prstGeom prst="roundRect">
            <a:avLst>
              <a:gd name="adj" fmla="val 14118"/>
            </a:avLst>
          </a:prstGeom>
          <a:solidFill>
            <a:srgbClr val="F1F5FB"/>
          </a:solidFill>
          <a:ln w="12700">
            <a:solidFill>
              <a:srgbClr val="D7DFEA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3" name="Shape 17"/>
          <p:cNvSpPr/>
          <p:nvPr/>
        </p:nvSpPr>
        <p:spPr>
          <a:xfrm>
            <a:off x="7086600" y="3200400"/>
            <a:ext cx="594360" cy="594360"/>
          </a:xfrm>
          <a:prstGeom prst="ellipse">
            <a:avLst/>
          </a:prstGeom>
          <a:solidFill>
            <a:srgbClr val="2F6FD0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5190" y="3348990"/>
            <a:ext cx="297180" cy="297180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7863840" y="3200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Lavanya Ranganathan</a:t>
            </a:r>
            <a:endParaRPr lang="en-US" sz="1500" dirty="0"/>
          </a:p>
        </p:txBody>
      </p:sp>
      <p:sp>
        <p:nvSpPr>
          <p:cNvPr id="26" name="Text 19"/>
          <p:cNvSpPr txBox="1"/>
          <p:nvPr/>
        </p:nvSpPr>
        <p:spPr>
          <a:xfrm>
            <a:off x="7863840" y="3520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27" name="Shape 20"/>
          <p:cNvSpPr/>
          <p:nvPr/>
        </p:nvSpPr>
        <p:spPr>
          <a:xfrm>
            <a:off x="6949440" y="4069080"/>
            <a:ext cx="4754880" cy="777240"/>
          </a:xfrm>
          <a:prstGeom prst="roundRect">
            <a:avLst>
              <a:gd name="adj" fmla="val 14118"/>
            </a:avLst>
          </a:prstGeom>
          <a:solidFill>
            <a:srgbClr val="F1F5FB"/>
          </a:solidFill>
          <a:ln w="12700">
            <a:solidFill>
              <a:srgbClr val="D7DFEA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sp>
        <p:nvSpPr>
          <p:cNvPr id="28" name="Shape 21"/>
          <p:cNvSpPr/>
          <p:nvPr/>
        </p:nvSpPr>
        <p:spPr>
          <a:xfrm>
            <a:off x="7086600" y="4160520"/>
            <a:ext cx="594360" cy="594360"/>
          </a:xfrm>
          <a:prstGeom prst="ellipse">
            <a:avLst/>
          </a:prstGeom>
          <a:solidFill>
            <a:srgbClr val="E8862E"/>
          </a:solidFill>
          <a:ln w="190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DE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35190" y="4309110"/>
            <a:ext cx="297180" cy="297180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7863840" y="4160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1F2937"/>
                </a:solidFill>
                <a:latin typeface="Calibri" pitchFamily="34" charset="0"/>
                <a:cs typeface="Calibri" pitchFamily="34" charset="-120"/>
              </a:rPr>
              <a:t>Nisha Suthar</a:t>
            </a:r>
            <a:endParaRPr lang="en-US" sz="1500" dirty="0"/>
          </a:p>
        </p:txBody>
      </p:sp>
      <p:sp>
        <p:nvSpPr>
          <p:cNvPr id="31" name="Text 23"/>
          <p:cNvSpPr txBox="1"/>
          <p:nvPr/>
        </p:nvSpPr>
        <p:spPr>
          <a:xfrm>
            <a:off x="7863840" y="4480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32" name="Text 24"/>
          <p:cNvSpPr txBox="1"/>
          <p:nvPr/>
        </p:nvSpPr>
        <p:spPr>
          <a:xfrm>
            <a:off x="457200" y="516636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400" b="1" dirty="0">
                <a:solidFill>
                  <a:srgbClr val="5DA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4400" dirty="0"/>
          </a:p>
        </p:txBody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9440" y="5440680"/>
            <a:ext cx="365760" cy="365760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7360920" y="54406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9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github.com/LarsEBaumann/Health_Report_Generator</a:t>
            </a:r>
            <a:endParaRPr lang="en-US" sz="1150" dirty="0"/>
          </a:p>
        </p:txBody>
      </p:sp>
      <p:sp>
        <p:nvSpPr>
          <p:cNvPr id="3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19088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9B4C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</TotalTime>
  <Words>1567</Words>
  <Application>Microsoft Macintosh PowerPoint</Application>
  <PresentationFormat>Widescreen</PresentationFormat>
  <Paragraphs>166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Health Report Generator</dc:title>
  <dc:subject>PptxGenJS Presentation</dc:subject>
  <dc:creator>PptxGenJS</dc:creator>
  <cp:lastModifiedBy>Lavanya Ranganathan</cp:lastModifiedBy>
  <cp:revision>3</cp:revision>
  <dcterms:created xsi:type="dcterms:W3CDTF">2026-10-04T11:10:18Z</dcterms:created>
  <dcterms:modified xsi:type="dcterms:W3CDTF">2026-10-04T13:01:39Z</dcterms:modified>
</cp:coreProperties>
</file>