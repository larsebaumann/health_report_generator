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00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E3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BC56-4403-8EC5-603842FCD2D1}"/>
              </c:ext>
            </c:extLst>
          </c:dPt>
          <c:dPt>
            <c:idx val="1"/>
            <c:bubble3D val="0"/>
            <c:spPr>
              <a:solidFill>
                <a:srgbClr val="C5CED9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C56-4403-8EC5-603842FCD2D1}"/>
              </c:ext>
            </c:extLst>
          </c:dPt>
          <c:dPt>
            <c:idx val="2"/>
            <c:bubble3D val="0"/>
            <c:spPr>
              <a:solidFill>
                <a:srgbClr val="F2B33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BC56-4403-8EC5-603842FCD2D1}"/>
              </c:ext>
            </c:extLst>
          </c:dPt>
          <c:dPt>
            <c:idx val="3"/>
            <c:bubble3D val="0"/>
            <c:spPr>
              <a:solidFill>
                <a:srgbClr val="D6454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BC56-4403-8EC5-603842FCD2D1}"/>
              </c:ext>
            </c:extLst>
          </c:dPt>
          <c:cat>
            <c:strRef>
              <c:f>Sheet1!$A$2:$A$5</c:f>
              <c:strCache>
                <c:ptCount val="4"/>
                <c:pt idx="0">
                  <c:v>Passed</c:v>
                </c:pt>
                <c:pt idx="1">
                  <c:v>Skipped</c:v>
                </c:pt>
                <c:pt idx="2">
                  <c:v>Warnings</c:v>
                </c:pt>
                <c:pt idx="3">
                  <c:v>Failed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347</c:v>
                </c:pt>
                <c:pt idx="1">
                  <c:v>21</c:v>
                </c:pt>
                <c:pt idx="2">
                  <c:v>2</c:v>
                </c:pt>
                <c:pt idx="3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C56-4403-8EC5-603842FCD2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× usual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19F-4578-A4C7-F1E0C670A07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19F-4578-A4C7-F1E0C670A076}"/>
              </c:ext>
            </c:extLst>
          </c:dPt>
          <c:dPt>
            <c:idx val="2"/>
            <c:invertIfNegative val="0"/>
            <c:bubble3D val="0"/>
            <c:spPr>
              <a:solidFill>
                <a:srgbClr val="E88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19F-4578-A4C7-F1E0C670A07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19F-4578-A4C7-F1E0C670A076}"/>
              </c:ext>
            </c:extLst>
          </c:dPt>
          <c:dPt>
            <c:idx val="4"/>
            <c:invertIfNegative val="0"/>
            <c:bubble3D val="0"/>
            <c:spPr>
              <a:solidFill>
                <a:srgbClr val="E88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19F-4578-A4C7-F1E0C670A076}"/>
              </c:ext>
            </c:extLst>
          </c:dPt>
          <c:dPt>
            <c:idx val="5"/>
            <c:invertIfNegative val="0"/>
            <c:bubble3D val="0"/>
            <c:spPr>
              <a:solidFill>
                <a:srgbClr val="E88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19F-4578-A4C7-F1E0C670A076}"/>
              </c:ext>
            </c:extLst>
          </c:dPt>
          <c:dLbls>
            <c:numFmt formatCode="0.0&quot;×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Influenza (wk 39)</c:v>
                </c:pt>
                <c:pt idx="1">
                  <c:v>EHEC (Aug)</c:v>
                </c:pt>
                <c:pt idx="2">
                  <c:v>Hepatitis A (Aug)</c:v>
                </c:pt>
                <c:pt idx="3">
                  <c:v>Campylobacter (Aug)</c:v>
                </c:pt>
                <c:pt idx="4">
                  <c:v>Shigellosis (Aug)</c:v>
                </c:pt>
                <c:pt idx="5">
                  <c:v>Acute resp. infection (wk 39)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1.65</c:v>
                </c:pt>
                <c:pt idx="2">
                  <c:v>1.45</c:v>
                </c:pt>
                <c:pt idx="3">
                  <c:v>1.35</c:v>
                </c:pt>
                <c:pt idx="4">
                  <c:v>1.35</c:v>
                </c:pt>
                <c:pt idx="5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19F-4578-A4C7-F1E0C670A0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90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
"Every reporting cycle, the same surveillance data has to answer very different questions. We built the Health Report Generator: one dataset, every stakeholder's answer — one click each."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[0:20–0:55]
"The same data serves very different people. Public health officials ask: what needs attention now? Researchers ask: can I trust and re-run this? Today each version is rebuilt by hand, so numbers drift and nobody can trace a chart back to its data.
We built the two highlighted audiences. The greyed ones — cantonal offices, clinicians, the public — are where the design pays off: each is a new report template on the same cleaned table, not a new pipeline."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[0:55–1:25]
"Our input is open FOPH surveillance data: 37 downloaded files, of which 17 were byte-identical duplicates the pipeline detects and skips. That leaves 20 datasets, harmonised into one table of 376,588 rows, 2013 to September 2026.
Left to right: a weekly GitHub Actions job fetches the exports, we snapshot them with SHA-256 checksums, harmonise, run a quality gate, then Quarto renders one report per audience. Both reports read the same table, so they can't disagree."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[1:25–1:55]
"Before anything is analysed, 370 checks run on every dataset. A failure stops the build — a broken input can't reach a report. Today: 347 passed, 21 skipped because they didn't apply — and we report skipped as skipped, never as passed — 2 explained wastewater warnings, zero failures.
And every report carries a machine-readable provenance record: source, retrieval date, checksums, filters, commit, software versions, render time. Embedded in the HTML and downloadable as JSON."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[1:55–2:25]
"The entry point is one web page asking one question: who are you? Public health officials get levels at a glance, trends for anything flagged, cantons and burden versus last year. Researchers get coverage, every quality check, methods, long-term trends, and the code under every chart.
And the data says something real: 6 of 16 indicators are above their usual level. The story is food-borne — EHEC and Campylobacter at a ten-year August high, up about a quarter year to date. Influenza's 'record' is 53 off-season cases: an early signal, not an outbreak. Let me show you."
CHECK: EHEC/Campylobacter values from your report; ratios on chart are approximations from "about X% above usual".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[2:25–4:15 · switch to browser — tabs pre-opened]
1) Web page: "one question, two buttons." (10s)
2) Public health report: summary cards, level table, hover one trend chart, canton chart. (35s)
3) Researcher report: quality-check table, methods, expand one "Show code". (35s)
4) End of a report: provenance table, download JSON. (20s)
5) Optional if time: Marimo panel / Actions run — say if it's a completed run. (10s)
Backup: local HTML copies if Wi-Fi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[4:15–4:35]
"We say the limits before you ask: reported cases aren't all infections, there's no statistical testing — small counts can flip a level — and this is a prototype, not FOPH guidance. All of this is written in the reports. Next: wastewater and lab positivity as early warning, more audiences, and reports in German, French and Italian."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[4:35–5:00]
"One table feeds every report, so they agree. A new audience is a new template, not a new pipeline. And every report states which data, code and settings produced it. We're Lars, Lavanya and [name] — the repo is on screen. Thank you — questions?"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Report Generator · Hackathon 4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A0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78452CE-7DD8-70C5-B564-D667DEE6F4E9}"/>
              </a:ext>
            </a:extLst>
          </p:cNvPr>
          <p:cNvSpPr/>
          <p:nvPr/>
        </p:nvSpPr>
        <p:spPr>
          <a:xfrm>
            <a:off x="1165860" y="5188562"/>
            <a:ext cx="5070348" cy="7093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94360" y="818869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dataset.</a:t>
            </a:r>
            <a:endParaRPr lang="en-US" sz="4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stakeholder</a:t>
            </a:r>
            <a:r>
              <a:rPr lang="en-DE" sz="4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3131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Swiss infectious-disease surveillance data, turned into a report for each audience</a:t>
            </a:r>
            <a:r>
              <a:rPr lang="en-DE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CE7D6"/>
          </a:solidFill>
          <a:ln w="2857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 txBox="1"/>
          <p:nvPr/>
        </p:nvSpPr>
        <p:spPr>
          <a:xfrm>
            <a:off x="621792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officials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4553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attention now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411480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D6E4F7"/>
          </a:solidFill>
          <a:ln w="2857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 txBox="1"/>
          <p:nvPr/>
        </p:nvSpPr>
        <p:spPr>
          <a:xfrm>
            <a:off x="3547872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F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4553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trust and re-run 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4325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546898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 txBox="1"/>
          <p:nvPr/>
        </p:nvSpPr>
        <p:spPr>
          <a:xfrm>
            <a:off x="457200" y="546898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FOPH open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84248" y="5468986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 txBox="1"/>
          <p:nvPr/>
        </p:nvSpPr>
        <p:spPr>
          <a:xfrm>
            <a:off x="1984248" y="546898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Snakemake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91256" y="546898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 txBox="1"/>
          <p:nvPr/>
        </p:nvSpPr>
        <p:spPr>
          <a:xfrm>
            <a:off x="3225747" y="546577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Quarto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9664" y="546898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 txBox="1"/>
          <p:nvPr/>
        </p:nvSpPr>
        <p:spPr>
          <a:xfrm>
            <a:off x="4169664" y="546898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50992" y="546898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 txBox="1"/>
          <p:nvPr/>
        </p:nvSpPr>
        <p:spPr>
          <a:xfrm>
            <a:off x="5650992" y="546898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HTML · PDF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76872" y="1325880"/>
            <a:ext cx="4480560" cy="4480560"/>
          </a:xfrm>
          <a:prstGeom prst="ellipse">
            <a:avLst/>
          </a:prstGeom>
          <a:solidFill>
            <a:srgbClr val="5DAE3B">
              <a:alpha val="1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7589520" y="1920240"/>
            <a:ext cx="3200400" cy="3200400"/>
          </a:xfrm>
          <a:prstGeom prst="ellipse">
            <a:avLst/>
          </a:prstGeom>
          <a:solidFill>
            <a:srgbClr val="5DAE3B">
              <a:alpha val="1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8229600" y="2651760"/>
            <a:ext cx="960120" cy="868680"/>
          </a:xfrm>
          <a:prstGeom prst="line">
            <a:avLst/>
          </a:prstGeom>
          <a:noFill/>
          <a:ln w="889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 flipH="1">
            <a:off x="9189720" y="2514600"/>
            <a:ext cx="914400" cy="1005840"/>
          </a:xfrm>
          <a:prstGeom prst="line">
            <a:avLst/>
          </a:prstGeom>
          <a:noFill/>
          <a:ln w="889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9189720" y="3520440"/>
            <a:ext cx="1188720" cy="640080"/>
          </a:xfrm>
          <a:prstGeom prst="line">
            <a:avLst/>
          </a:prstGeom>
          <a:noFill/>
          <a:ln w="889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 flipH="1">
            <a:off x="8458200" y="3520440"/>
            <a:ext cx="731520" cy="1005840"/>
          </a:xfrm>
          <a:prstGeom prst="line">
            <a:avLst/>
          </a:prstGeom>
          <a:noFill/>
          <a:ln w="889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 flipH="1">
            <a:off x="7635240" y="3520440"/>
            <a:ext cx="1554480" cy="914"/>
          </a:xfrm>
          <a:prstGeom prst="line">
            <a:avLst/>
          </a:prstGeom>
          <a:noFill/>
          <a:ln w="889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 flipV="1">
            <a:off x="9189720" y="1463040"/>
            <a:ext cx="2148840" cy="2057400"/>
          </a:xfrm>
          <a:prstGeom prst="line">
            <a:avLst/>
          </a:prstGeom>
          <a:noFill/>
          <a:ln w="31750">
            <a:solidFill>
              <a:srgbClr val="2F6FD0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 txBox="1"/>
          <p:nvPr/>
        </p:nvSpPr>
        <p:spPr>
          <a:xfrm>
            <a:off x="10607040" y="1051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F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 flipH="1" flipV="1">
            <a:off x="6903720" y="1874520"/>
            <a:ext cx="2286000" cy="1645920"/>
          </a:xfrm>
          <a:prstGeom prst="line">
            <a:avLst/>
          </a:prstGeom>
          <a:noFill/>
          <a:ln w="31750">
            <a:solidFill>
              <a:srgbClr val="E8862E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 txBox="1"/>
          <p:nvPr/>
        </p:nvSpPr>
        <p:spPr>
          <a:xfrm>
            <a:off x="635508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89720" y="3520440"/>
            <a:ext cx="2331720" cy="1600200"/>
          </a:xfrm>
          <a:prstGeom prst="line">
            <a:avLst/>
          </a:prstGeom>
          <a:noFill/>
          <a:ln w="25400">
            <a:solidFill>
              <a:srgbClr val="A9B4C2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 txBox="1"/>
          <p:nvPr/>
        </p:nvSpPr>
        <p:spPr>
          <a:xfrm>
            <a:off x="10607040" y="5212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Clinicians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 flipH="1">
            <a:off x="7680960" y="3520440"/>
            <a:ext cx="1508760" cy="2194560"/>
          </a:xfrm>
          <a:prstGeom prst="line">
            <a:avLst/>
          </a:prstGeom>
          <a:noFill/>
          <a:ln w="25400">
            <a:solidFill>
              <a:srgbClr val="A9B4C2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 txBox="1"/>
          <p:nvPr/>
        </p:nvSpPr>
        <p:spPr>
          <a:xfrm>
            <a:off x="6766560" y="5760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 flipV="1">
            <a:off x="9189720" y="868680"/>
            <a:ext cx="914" cy="2651760"/>
          </a:xfrm>
          <a:prstGeom prst="line">
            <a:avLst/>
          </a:prstGeom>
          <a:noFill/>
          <a:ln w="31750">
            <a:solidFill>
              <a:srgbClr val="F2B33D"/>
            </a:solidFill>
            <a:prstDash val="dash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8" name="Text 36"/>
          <p:cNvSpPr txBox="1"/>
          <p:nvPr/>
        </p:nvSpPr>
        <p:spPr>
          <a:xfrm>
            <a:off x="78638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audience = new template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955280" y="2377440"/>
            <a:ext cx="548640" cy="548640"/>
          </a:xfrm>
          <a:prstGeom prst="ellipse">
            <a:avLst/>
          </a:prstGeom>
          <a:solidFill>
            <a:srgbClr val="5DAE3B"/>
          </a:solidFill>
          <a:ln w="12700">
            <a:solidFill>
              <a:srgbClr val="5DAE3B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0" name="Shape 38"/>
          <p:cNvSpPr/>
          <p:nvPr/>
        </p:nvSpPr>
        <p:spPr>
          <a:xfrm>
            <a:off x="8054035" y="2454250"/>
            <a:ext cx="175565" cy="1426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Shape 39"/>
          <p:cNvSpPr/>
          <p:nvPr/>
        </p:nvSpPr>
        <p:spPr>
          <a:xfrm>
            <a:off x="9829800" y="2240280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2" name="Shape 40"/>
          <p:cNvSpPr/>
          <p:nvPr/>
        </p:nvSpPr>
        <p:spPr>
          <a:xfrm>
            <a:off x="9928555" y="2317090"/>
            <a:ext cx="175565" cy="1426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Shape 41"/>
          <p:cNvSpPr/>
          <p:nvPr/>
        </p:nvSpPr>
        <p:spPr>
          <a:xfrm>
            <a:off x="10104120" y="3886200"/>
            <a:ext cx="548640" cy="548640"/>
          </a:xfrm>
          <a:prstGeom prst="ellipse">
            <a:avLst/>
          </a:prstGeom>
          <a:solidFill>
            <a:srgbClr val="5DAE3B"/>
          </a:solidFill>
          <a:ln w="12700">
            <a:solidFill>
              <a:srgbClr val="5DAE3B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4" name="Shape 42"/>
          <p:cNvSpPr/>
          <p:nvPr/>
        </p:nvSpPr>
        <p:spPr>
          <a:xfrm>
            <a:off x="10202875" y="3963010"/>
            <a:ext cx="175565" cy="1426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5" name="Shape 43"/>
          <p:cNvSpPr/>
          <p:nvPr/>
        </p:nvSpPr>
        <p:spPr>
          <a:xfrm>
            <a:off x="8183880" y="4251960"/>
            <a:ext cx="548640" cy="548640"/>
          </a:xfrm>
          <a:prstGeom prst="ellipse">
            <a:avLst/>
          </a:prstGeom>
          <a:solidFill>
            <a:srgbClr val="5DAE3B"/>
          </a:solidFill>
          <a:ln w="12700">
            <a:solidFill>
              <a:srgbClr val="5DAE3B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6" name="Shape 44"/>
          <p:cNvSpPr/>
          <p:nvPr/>
        </p:nvSpPr>
        <p:spPr>
          <a:xfrm>
            <a:off x="8282635" y="4328770"/>
            <a:ext cx="175565" cy="1426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7" name="Shape 45"/>
          <p:cNvSpPr/>
          <p:nvPr/>
        </p:nvSpPr>
        <p:spPr>
          <a:xfrm>
            <a:off x="7360920" y="3246120"/>
            <a:ext cx="548640" cy="548640"/>
          </a:xfrm>
          <a:prstGeom prst="ellipse">
            <a:avLst/>
          </a:prstGeom>
          <a:solidFill>
            <a:srgbClr val="D9DEE5"/>
          </a:solidFill>
          <a:ln w="12700">
            <a:solidFill>
              <a:srgbClr val="D9DEE5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8" name="Shape 46"/>
          <p:cNvSpPr/>
          <p:nvPr/>
        </p:nvSpPr>
        <p:spPr>
          <a:xfrm>
            <a:off x="7459675" y="3322930"/>
            <a:ext cx="175565" cy="1426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9" name="Shape 47"/>
          <p:cNvSpPr/>
          <p:nvPr/>
        </p:nvSpPr>
        <p:spPr>
          <a:xfrm>
            <a:off x="8641080" y="2971800"/>
            <a:ext cx="1097280" cy="1097280"/>
          </a:xfrm>
          <a:prstGeom prst="ellipse">
            <a:avLst/>
          </a:prstGeom>
          <a:solidFill>
            <a:srgbClr val="5DAE3B"/>
          </a:solidFill>
          <a:ln w="12700">
            <a:solidFill>
              <a:srgbClr val="5DAE3B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0" name="Shape 48"/>
          <p:cNvSpPr/>
          <p:nvPr/>
        </p:nvSpPr>
        <p:spPr>
          <a:xfrm>
            <a:off x="8838590" y="3125419"/>
            <a:ext cx="351130" cy="28529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3337560"/>
            <a:ext cx="402336" cy="402336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457200" y="61389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 E. Baumann · Lavanya Ranganathan · </a:t>
            </a:r>
            <a:r>
              <a:rPr lang="en-DE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 Suthar</a:t>
            </a:r>
            <a:endParaRPr lang="en-US" sz="13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42E8AD5B-416C-A93F-5989-19C69960890F}"/>
              </a:ext>
            </a:extLst>
          </p:cNvPr>
          <p:cNvSpPr txBox="1"/>
          <p:nvPr/>
        </p:nvSpPr>
        <p:spPr>
          <a:xfrm>
            <a:off x="2930652" y="5129197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7180" y="155486"/>
            <a:ext cx="8229600" cy="636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r>
              <a:rPr lang="en-DE" sz="28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Same </a:t>
            </a:r>
            <a:r>
              <a:rPr lang="en-DE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2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ata</a:t>
            </a:r>
            <a:r>
              <a:rPr lang="en-DE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Different </a:t>
            </a:r>
            <a:r>
              <a:rPr lang="en-DE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2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uestions</a:t>
            </a:r>
            <a:endParaRPr lang="en-US" sz="2800" b="1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25196" y="882793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Today each audience’s report is rebuilt by hand</a:t>
            </a:r>
            <a:r>
              <a:rPr lang="en-DE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numbers drift and nobody can say which data a chart came from.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39996" y="2331720"/>
            <a:ext cx="3108960" cy="3108960"/>
          </a:xfrm>
          <a:prstGeom prst="ellipse">
            <a:avLst/>
          </a:prstGeom>
          <a:solidFill>
            <a:srgbClr val="E6EE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768596" y="2560320"/>
            <a:ext cx="2651760" cy="2651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5682996" y="2834640"/>
            <a:ext cx="822960" cy="822960"/>
          </a:xfrm>
          <a:prstGeom prst="ellipse">
            <a:avLst/>
          </a:prstGeom>
          <a:solidFill>
            <a:srgbClr val="5DA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30403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905756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FOPH surveillance data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905756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376,588 rows · 16 indicators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905756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cleaned table</a:t>
            </a:r>
            <a:endParaRPr lang="en-US" sz="1100" b="1" dirty="0">
              <a:solidFill>
                <a:srgbClr val="0070C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" y="2057400"/>
            <a:ext cx="37490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85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 txBox="1"/>
          <p:nvPr/>
        </p:nvSpPr>
        <p:spPr>
          <a:xfrm>
            <a:off x="685800" y="22128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officials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578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attention now?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17720" y="2560320"/>
            <a:ext cx="456155" cy="409551"/>
          </a:xfrm>
          <a:prstGeom prst="line">
            <a:avLst/>
          </a:prstGeom>
          <a:noFill/>
          <a:ln w="2540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3"/>
          <p:cNvSpPr/>
          <p:nvPr/>
        </p:nvSpPr>
        <p:spPr>
          <a:xfrm>
            <a:off x="3794760" y="2148840"/>
            <a:ext cx="822960" cy="822960"/>
          </a:xfrm>
          <a:prstGeom prst="ellipse">
            <a:avLst/>
          </a:prstGeom>
          <a:solidFill>
            <a:srgbClr val="1A9E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2354580"/>
            <a:ext cx="411480" cy="4114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982712" y="2057400"/>
            <a:ext cx="37490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8575">
            <a:solidFill>
              <a:srgbClr val="2F6FD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5"/>
          <p:cNvSpPr txBox="1"/>
          <p:nvPr/>
        </p:nvSpPr>
        <p:spPr>
          <a:xfrm>
            <a:off x="8577072" y="22128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Researchers/ co-workers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577072" y="2578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trust and re-run this?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 flipH="1">
            <a:off x="7115077" y="2560320"/>
            <a:ext cx="456155" cy="409551"/>
          </a:xfrm>
          <a:prstGeom prst="line">
            <a:avLst/>
          </a:prstGeom>
          <a:noFill/>
          <a:ln w="25400">
            <a:solidFill>
              <a:srgbClr val="2F6FD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Shape 18"/>
          <p:cNvSpPr/>
          <p:nvPr/>
        </p:nvSpPr>
        <p:spPr>
          <a:xfrm>
            <a:off x="7571232" y="2148840"/>
            <a:ext cx="822960" cy="822960"/>
          </a:xfrm>
          <a:prstGeom prst="ellipse">
            <a:avLst/>
          </a:prstGeom>
          <a:solidFill>
            <a:srgbClr val="2F6F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972" y="2354580"/>
            <a:ext cx="411480" cy="41148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57200" y="3337560"/>
            <a:ext cx="3749040" cy="1005840"/>
          </a:xfrm>
          <a:prstGeom prst="roundRect">
            <a:avLst>
              <a:gd name="adj" fmla="val 10909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0"/>
          <p:cNvSpPr txBox="1"/>
          <p:nvPr/>
        </p:nvSpPr>
        <p:spPr>
          <a:xfrm>
            <a:off x="685800" y="3493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Cantonal health offices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685800" y="3858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 in my canton?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617720" y="3840480"/>
            <a:ext cx="105813" cy="3276"/>
          </a:xfrm>
          <a:prstGeom prst="line">
            <a:avLst/>
          </a:prstGeom>
          <a:noFill/>
          <a:ln w="254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Shape 23"/>
          <p:cNvSpPr/>
          <p:nvPr/>
        </p:nvSpPr>
        <p:spPr>
          <a:xfrm>
            <a:off x="3794760" y="3429000"/>
            <a:ext cx="822960" cy="822960"/>
          </a:xfrm>
          <a:prstGeom prst="ellipse">
            <a:avLst/>
          </a:prstGeom>
          <a:solidFill>
            <a:srgbClr val="C5CED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0" y="3634740"/>
            <a:ext cx="411480" cy="41148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85800" y="318211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Text 25"/>
          <p:cNvSpPr txBox="1"/>
          <p:nvPr/>
        </p:nvSpPr>
        <p:spPr>
          <a:xfrm>
            <a:off x="685800" y="31821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template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982712" y="3337560"/>
            <a:ext cx="3749040" cy="1005840"/>
          </a:xfrm>
          <a:prstGeom prst="roundRect">
            <a:avLst>
              <a:gd name="adj" fmla="val 10909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27"/>
          <p:cNvSpPr txBox="1"/>
          <p:nvPr/>
        </p:nvSpPr>
        <p:spPr>
          <a:xfrm>
            <a:off x="8577072" y="3493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providers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8577072" y="3858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case part of a signal?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 flipH="1">
            <a:off x="7465419" y="3840480"/>
            <a:ext cx="105813" cy="3276"/>
          </a:xfrm>
          <a:prstGeom prst="line">
            <a:avLst/>
          </a:prstGeom>
          <a:noFill/>
          <a:ln w="254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Shape 30"/>
          <p:cNvSpPr/>
          <p:nvPr/>
        </p:nvSpPr>
        <p:spPr>
          <a:xfrm>
            <a:off x="7571232" y="3429000"/>
            <a:ext cx="822960" cy="822960"/>
          </a:xfrm>
          <a:prstGeom prst="ellipse">
            <a:avLst/>
          </a:prstGeom>
          <a:solidFill>
            <a:srgbClr val="C5CED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6972" y="3634740"/>
            <a:ext cx="411480" cy="41148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0405872" y="318211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2"/>
          <p:cNvSpPr txBox="1"/>
          <p:nvPr/>
        </p:nvSpPr>
        <p:spPr>
          <a:xfrm>
            <a:off x="10405872" y="31821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template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57200" y="4617720"/>
            <a:ext cx="3749040" cy="1005840"/>
          </a:xfrm>
          <a:prstGeom prst="roundRect">
            <a:avLst>
              <a:gd name="adj" fmla="val 10909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1" name="Text 34"/>
          <p:cNvSpPr txBox="1"/>
          <p:nvPr/>
        </p:nvSpPr>
        <p:spPr>
          <a:xfrm>
            <a:off x="685800" y="4773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makers</a:t>
            </a:r>
            <a:endParaRPr lang="en-US" sz="1600" dirty="0"/>
          </a:p>
        </p:txBody>
      </p:sp>
      <p:sp>
        <p:nvSpPr>
          <p:cNvPr id="42" name="Text 35"/>
          <p:cNvSpPr txBox="1"/>
          <p:nvPr/>
        </p:nvSpPr>
        <p:spPr>
          <a:xfrm>
            <a:off x="68580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burden rising?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 flipH="1">
            <a:off x="4617720" y="4765878"/>
            <a:ext cx="424400" cy="354762"/>
          </a:xfrm>
          <a:prstGeom prst="line">
            <a:avLst/>
          </a:prstGeom>
          <a:noFill/>
          <a:ln w="254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4" name="Shape 37"/>
          <p:cNvSpPr/>
          <p:nvPr/>
        </p:nvSpPr>
        <p:spPr>
          <a:xfrm>
            <a:off x="3794760" y="4709160"/>
            <a:ext cx="822960" cy="822960"/>
          </a:xfrm>
          <a:prstGeom prst="ellipse">
            <a:avLst/>
          </a:prstGeom>
          <a:solidFill>
            <a:srgbClr val="C5CED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0" y="4914900"/>
            <a:ext cx="411480" cy="41148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685800" y="44622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7" name="Text 39"/>
          <p:cNvSpPr txBox="1"/>
          <p:nvPr/>
        </p:nvSpPr>
        <p:spPr>
          <a:xfrm>
            <a:off x="685800" y="4462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template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7982712" y="4617720"/>
            <a:ext cx="3749040" cy="1005840"/>
          </a:xfrm>
          <a:prstGeom prst="roundRect">
            <a:avLst>
              <a:gd name="adj" fmla="val 10909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9" name="Text 41"/>
          <p:cNvSpPr txBox="1"/>
          <p:nvPr/>
        </p:nvSpPr>
        <p:spPr>
          <a:xfrm>
            <a:off x="8577072" y="4773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</a:t>
            </a:r>
            <a:endParaRPr lang="en-US" sz="1600" dirty="0"/>
          </a:p>
        </p:txBody>
      </p:sp>
      <p:sp>
        <p:nvSpPr>
          <p:cNvPr id="50" name="Text 42"/>
          <p:cNvSpPr txBox="1"/>
          <p:nvPr/>
        </p:nvSpPr>
        <p:spPr>
          <a:xfrm>
            <a:off x="8577072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be concerned?</a:t>
            </a:r>
            <a:endParaRPr lang="en-US" sz="1300" dirty="0"/>
          </a:p>
        </p:txBody>
      </p:sp>
      <p:sp>
        <p:nvSpPr>
          <p:cNvPr id="51" name="Shape 43"/>
          <p:cNvSpPr/>
          <p:nvPr/>
        </p:nvSpPr>
        <p:spPr>
          <a:xfrm>
            <a:off x="7146832" y="4765878"/>
            <a:ext cx="424400" cy="354762"/>
          </a:xfrm>
          <a:prstGeom prst="line">
            <a:avLst/>
          </a:prstGeom>
          <a:noFill/>
          <a:ln w="254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2" name="Shape 44"/>
          <p:cNvSpPr/>
          <p:nvPr/>
        </p:nvSpPr>
        <p:spPr>
          <a:xfrm>
            <a:off x="7571232" y="4709160"/>
            <a:ext cx="822960" cy="822960"/>
          </a:xfrm>
          <a:prstGeom prst="ellipse">
            <a:avLst/>
          </a:prstGeom>
          <a:solidFill>
            <a:srgbClr val="C5CED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6972" y="4914900"/>
            <a:ext cx="411480" cy="411480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10405872" y="446227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5" name="Text 46"/>
          <p:cNvSpPr txBox="1"/>
          <p:nvPr/>
        </p:nvSpPr>
        <p:spPr>
          <a:xfrm>
            <a:off x="10405872" y="4462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template</a:t>
            </a:r>
            <a:endParaRPr lang="en-US" sz="1000" dirty="0"/>
          </a:p>
        </p:txBody>
      </p:sp>
      <p:sp>
        <p:nvSpPr>
          <p:cNvPr id="56" name="Text 47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E8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audiences, one click each.  </a:t>
            </a:r>
            <a:endParaRPr lang="en-US" sz="150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20624" y="284386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export to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85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E886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64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E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→ 20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→ unique datasets (17 duplicates skipped)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5087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85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7"/>
          <p:cNvSpPr/>
          <p:nvPr/>
        </p:nvSpPr>
        <p:spPr>
          <a:xfrm>
            <a:off x="3474720" y="1691640"/>
            <a:ext cx="548640" cy="548640"/>
          </a:xfrm>
          <a:prstGeom prst="ellipse">
            <a:avLst/>
          </a:prstGeom>
          <a:solidFill>
            <a:srgbClr val="2F6F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1664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F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376,588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one harmonised table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5087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85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1"/>
          <p:cNvSpPr/>
          <p:nvPr/>
        </p:nvSpPr>
        <p:spPr>
          <a:xfrm>
            <a:off x="6309360" y="1691640"/>
            <a:ext cx="548640" cy="548640"/>
          </a:xfrm>
          <a:prstGeom prst="ellipse">
            <a:avLst/>
          </a:prstGeom>
          <a:solidFill>
            <a:srgbClr val="1A9E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95160" y="1664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indicators in the reports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61120" y="15087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85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5"/>
          <p:cNvSpPr/>
          <p:nvPr/>
        </p:nvSpPr>
        <p:spPr>
          <a:xfrm>
            <a:off x="9144000" y="1691640"/>
            <a:ext cx="548640" cy="548640"/>
          </a:xfrm>
          <a:prstGeom prst="ellipse">
            <a:avLst/>
          </a:prstGeom>
          <a:solidFill>
            <a:srgbClr val="5DA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828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829800" y="1664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5DA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2013–2026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reports, GP network, labs, wastewater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68680" y="3291840"/>
            <a:ext cx="1005840" cy="1005840"/>
          </a:xfrm>
          <a:prstGeom prst="ellipse">
            <a:avLst/>
          </a:prstGeom>
          <a:solidFill>
            <a:srgbClr val="2F6F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140" y="354330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720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Fetch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02920" y="4800600"/>
            <a:ext cx="1737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FOPH exports, weekly via GitHub Actions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2770632" y="3291840"/>
            <a:ext cx="1005840" cy="1005840"/>
          </a:xfrm>
          <a:prstGeom prst="ellipse">
            <a:avLst/>
          </a:prstGeom>
          <a:solidFill>
            <a:srgbClr val="2F6F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2092" y="354330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359152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Snapshot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2450592" y="479498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archived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672584" y="3291840"/>
            <a:ext cx="1005840" cy="1005840"/>
          </a:xfrm>
          <a:prstGeom prst="ellipse">
            <a:avLst/>
          </a:prstGeom>
          <a:solidFill>
            <a:srgbClr val="1A9E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4044" y="3543300"/>
            <a:ext cx="502920" cy="50292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261104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Harmonise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4306824" y="4800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datasets → one table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6574536" y="3291840"/>
            <a:ext cx="1005840" cy="100584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5996" y="3543300"/>
            <a:ext cx="502920" cy="50292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163056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Quality gate</a:t>
            </a:r>
            <a:endParaRPr lang="en-US" sz="1500" dirty="0"/>
          </a:p>
        </p:txBody>
      </p:sp>
      <p:sp>
        <p:nvSpPr>
          <p:cNvPr id="40" name="Text 30"/>
          <p:cNvSpPr txBox="1"/>
          <p:nvPr/>
        </p:nvSpPr>
        <p:spPr>
          <a:xfrm>
            <a:off x="6208776" y="4800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stops the build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8476488" y="3291840"/>
            <a:ext cx="1005840" cy="1005840"/>
          </a:xfrm>
          <a:prstGeom prst="ellipse">
            <a:avLst/>
          </a:prstGeom>
          <a:solidFill>
            <a:srgbClr val="5DA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27948" y="3543300"/>
            <a:ext cx="502920" cy="50292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065008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Report</a:t>
            </a:r>
            <a:endParaRPr lang="en-US" sz="1500" dirty="0"/>
          </a:p>
        </p:txBody>
      </p:sp>
      <p:sp>
        <p:nvSpPr>
          <p:cNvPr id="44" name="Text 33"/>
          <p:cNvSpPr txBox="1"/>
          <p:nvPr/>
        </p:nvSpPr>
        <p:spPr>
          <a:xfrm>
            <a:off x="8110728" y="4800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Quarto, one per stakeholder</a:t>
            </a:r>
            <a:endParaRPr lang="en-US" sz="1200" dirty="0"/>
          </a:p>
        </p:txBody>
      </p:sp>
      <p:sp>
        <p:nvSpPr>
          <p:cNvPr id="45" name="Shape 34"/>
          <p:cNvSpPr/>
          <p:nvPr/>
        </p:nvSpPr>
        <p:spPr>
          <a:xfrm>
            <a:off x="10378440" y="3291840"/>
            <a:ext cx="1005840" cy="1005840"/>
          </a:xfrm>
          <a:prstGeom prst="ellipse">
            <a:avLst/>
          </a:prstGeom>
          <a:solidFill>
            <a:srgbClr val="5DA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9900" y="3543300"/>
            <a:ext cx="502920" cy="502920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996696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Web page</a:t>
            </a:r>
            <a:endParaRPr lang="en-US" sz="1500" dirty="0"/>
          </a:p>
        </p:txBody>
      </p:sp>
      <p:sp>
        <p:nvSpPr>
          <p:cNvPr id="48" name="Text 36"/>
          <p:cNvSpPr txBox="1"/>
          <p:nvPr/>
        </p:nvSpPr>
        <p:spPr>
          <a:xfrm>
            <a:off x="10012680" y="4800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buttons · HTML + PDF</a:t>
            </a:r>
            <a:endParaRPr lang="en-US" sz="1200" dirty="0"/>
          </a:p>
        </p:txBody>
      </p:sp>
      <p:sp>
        <p:nvSpPr>
          <p:cNvPr id="49" name="Shape 37"/>
          <p:cNvSpPr/>
          <p:nvPr/>
        </p:nvSpPr>
        <p:spPr>
          <a:xfrm>
            <a:off x="2331720" y="5440680"/>
            <a:ext cx="5715000" cy="347472"/>
          </a:xfrm>
          <a:prstGeom prst="roundRect">
            <a:avLst>
              <a:gd name="adj" fmla="val 50000"/>
            </a:avLst>
          </a:prstGeom>
          <a:solidFill>
            <a:srgbClr val="EAF5E4"/>
          </a:solidFill>
          <a:ln w="12700">
            <a:solidFill>
              <a:srgbClr val="5DAE3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0" name="Text 38"/>
          <p:cNvSpPr txBox="1"/>
          <p:nvPr/>
        </p:nvSpPr>
        <p:spPr>
          <a:xfrm>
            <a:off x="2331720" y="5440680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3E8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Snakemake</a:t>
            </a:r>
            <a:r>
              <a:rPr lang="en-US" sz="1200" b="1" dirty="0">
                <a:solidFill>
                  <a:srgbClr val="3E8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rules</a:t>
            </a:r>
            <a:r>
              <a:rPr lang="en-DE" sz="1200" b="1" dirty="0">
                <a:solidFill>
                  <a:srgbClr val="3E8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>
                <a:solidFill>
                  <a:srgbClr val="3E8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declared inputs/outputs, unchanged steps skipped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reports read the same cleaned table, so their numbers cannot disagree.</a:t>
            </a:r>
            <a:endParaRPr lang="en-US" sz="14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F79A7B16-ED42-63F8-2194-1694D72DDB5A}"/>
              </a:ext>
            </a:extLst>
          </p:cNvPr>
          <p:cNvSpPr/>
          <p:nvPr/>
        </p:nvSpPr>
        <p:spPr>
          <a:xfrm>
            <a:off x="1931469" y="3665821"/>
            <a:ext cx="800501" cy="3950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655D2994-A10F-A540-B5B1-DC8CB74CC964}"/>
              </a:ext>
            </a:extLst>
          </p:cNvPr>
          <p:cNvSpPr/>
          <p:nvPr/>
        </p:nvSpPr>
        <p:spPr>
          <a:xfrm>
            <a:off x="3817219" y="3620102"/>
            <a:ext cx="800501" cy="3950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6DEE6B15-E6D6-406D-E340-D4A2504D9E9B}"/>
              </a:ext>
            </a:extLst>
          </p:cNvPr>
          <p:cNvSpPr/>
          <p:nvPr/>
        </p:nvSpPr>
        <p:spPr>
          <a:xfrm>
            <a:off x="5747004" y="3590825"/>
            <a:ext cx="800501" cy="3950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82848722-7DE0-CF60-7758-DEAC3317E37E}"/>
              </a:ext>
            </a:extLst>
          </p:cNvPr>
          <p:cNvSpPr/>
          <p:nvPr/>
        </p:nvSpPr>
        <p:spPr>
          <a:xfrm>
            <a:off x="7641697" y="3582603"/>
            <a:ext cx="800501" cy="3950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2CAEC5B6-1573-ADB9-6B2B-CAE19F1D2D74}"/>
              </a:ext>
            </a:extLst>
          </p:cNvPr>
          <p:cNvSpPr/>
          <p:nvPr/>
        </p:nvSpPr>
        <p:spPr>
          <a:xfrm>
            <a:off x="9555480" y="3578552"/>
            <a:ext cx="800501" cy="3950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365760" y="23148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you can </a:t>
            </a:r>
            <a:r>
              <a:rPr lang="en-US" sz="3400" b="1" dirty="0">
                <a:solidFill>
                  <a:srgbClr val="5DA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3400" b="1" dirty="0">
                <a:solidFill>
                  <a:srgbClr val="5DA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94360" cy="59436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8402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gate that blocks</a:t>
            </a:r>
            <a:endParaRPr lang="en-US" sz="1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233172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23444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29000" y="2606040"/>
            <a:ext cx="201168" cy="201168"/>
          </a:xfrm>
          <a:prstGeom prst="ellipse">
            <a:avLst/>
          </a:prstGeom>
          <a:solidFill>
            <a:srgbClr val="5DAE3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8"/>
          <p:cNvSpPr txBox="1"/>
          <p:nvPr/>
        </p:nvSpPr>
        <p:spPr>
          <a:xfrm>
            <a:off x="3730752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429000" y="3172968"/>
            <a:ext cx="201168" cy="201168"/>
          </a:xfrm>
          <a:prstGeom prst="ellipse">
            <a:avLst/>
          </a:prstGeom>
          <a:solidFill>
            <a:srgbClr val="A9B4C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0"/>
          <p:cNvSpPr txBox="1"/>
          <p:nvPr/>
        </p:nvSpPr>
        <p:spPr>
          <a:xfrm>
            <a:off x="3730752" y="3081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— not applicable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429000" y="3739896"/>
            <a:ext cx="201168" cy="201168"/>
          </a:xfrm>
          <a:prstGeom prst="ellipse">
            <a:avLst/>
          </a:prstGeom>
          <a:solidFill>
            <a:srgbClr val="F2B33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2"/>
          <p:cNvSpPr txBox="1"/>
          <p:nvPr/>
        </p:nvSpPr>
        <p:spPr>
          <a:xfrm>
            <a:off x="3730752" y="36484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— wastewater, explained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429000" y="4306824"/>
            <a:ext cx="201168" cy="201168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4"/>
          <p:cNvSpPr txBox="1"/>
          <p:nvPr/>
        </p:nvSpPr>
        <p:spPr>
          <a:xfrm>
            <a:off x="3730752" y="42153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5166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· unparseable periods · negative or non-numeric counts · year = Σ months · cantons = national total. Skipped is never reported as passed.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63640" y="1508760"/>
            <a:ext cx="5468112" cy="4526280"/>
          </a:xfrm>
          <a:prstGeom prst="roundRect">
            <a:avLst>
              <a:gd name="adj" fmla="val 2424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Shape 17"/>
          <p:cNvSpPr/>
          <p:nvPr/>
        </p:nvSpPr>
        <p:spPr>
          <a:xfrm>
            <a:off x="6492240" y="1691640"/>
            <a:ext cx="594360" cy="594360"/>
          </a:xfrm>
          <a:prstGeom prst="ellipse">
            <a:avLst/>
          </a:prstGeom>
          <a:solidFill>
            <a:srgbClr val="2F6F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830" y="1840230"/>
            <a:ext cx="297180" cy="2971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22376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carries its record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653796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F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   </a:t>
            </a:r>
            <a:r>
              <a:rPr lang="en-US" sz="1300" dirty="0">
                <a:solidFill>
                  <a:srgbClr val="E5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FOPH Infectious Diseases Dashboard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2898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F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retrieved </a:t>
            </a:r>
            <a:r>
              <a:rPr lang="en-US" sz="1300" dirty="0">
                <a:solidFill>
                  <a:srgbClr val="E5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2026-10-03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537960" y="32826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F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    </a:t>
            </a:r>
            <a:r>
              <a:rPr lang="en-US" sz="1300" dirty="0">
                <a:solidFill>
                  <a:srgbClr val="E5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raw file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537960" y="36667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F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   </a:t>
            </a:r>
            <a:r>
              <a:rPr lang="en-US" sz="1300" dirty="0">
                <a:solidFill>
                  <a:srgbClr val="E5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 · indicators · window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537960" y="4050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F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     </a:t>
            </a:r>
            <a:r>
              <a:rPr lang="en-US" sz="1300" dirty="0">
                <a:solidFill>
                  <a:srgbClr val="E5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53796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F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  </a:t>
            </a:r>
            <a:r>
              <a:rPr lang="en-US" sz="1300" dirty="0">
                <a:solidFill>
                  <a:srgbClr val="E5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/ Python / Quarto versions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537960" y="4818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F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rendered  </a:t>
            </a:r>
            <a:r>
              <a:rPr lang="en-US" sz="1300" dirty="0">
                <a:solidFill>
                  <a:srgbClr val="E5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537960" y="5257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Machine-readable, embedded in the HTML, downloadable as JSON. Send one file — the trail travels with it.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72440" y="283464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</a:t>
            </a:r>
            <a:r>
              <a:rPr lang="en-DE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400" b="1" dirty="0">
                <a:solidFill>
                  <a:srgbClr val="5DA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shape.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85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519363" y="1559052"/>
            <a:ext cx="4950995" cy="384048"/>
          </a:xfrm>
          <a:prstGeom prst="rect">
            <a:avLst/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18872" cy="118872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41248" y="1645920"/>
            <a:ext cx="118872" cy="118872"/>
          </a:xfrm>
          <a:prstGeom prst="ellipse">
            <a:avLst/>
          </a:prstGeom>
          <a:solidFill>
            <a:srgbClr val="F2B33D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1042416" y="1645920"/>
            <a:ext cx="118872" cy="118872"/>
          </a:xfrm>
          <a:prstGeom prst="ellipse">
            <a:avLst/>
          </a:prstGeom>
          <a:solidFill>
            <a:srgbClr val="5DAE3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 txBox="1"/>
          <p:nvPr/>
        </p:nvSpPr>
        <p:spPr>
          <a:xfrm>
            <a:off x="1371600" y="1572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health-report-generator · web page</a:t>
            </a:r>
            <a:endParaRPr lang="en-US" sz="1400" b="1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2240280" cy="548640"/>
          </a:xfrm>
          <a:prstGeom prst="roundRect">
            <a:avLst>
              <a:gd name="adj" fmla="val 16667"/>
            </a:avLst>
          </a:prstGeom>
          <a:solidFill>
            <a:srgbClr val="1A9E8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8872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officials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2918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at a glance: 16 / 10 / 3 / 3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 per flagged indicator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cantons · burden vs last year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54680" y="2560320"/>
            <a:ext cx="2240280" cy="548640"/>
          </a:xfrm>
          <a:prstGeom prst="roundRect">
            <a:avLst>
              <a:gd name="adj" fmla="val 16667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6974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61188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3154680" y="32918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quality checks, methods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since 2013 · age &amp; canton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code” under every chart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31520" y="5394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PDF for each · same cleaned table underneath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943600" y="1508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 now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5943600" y="1874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 of 16 indicators above their usual level · latest value ÷ usual (median of same period, past years)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5852160" y="2331720"/>
          <a:ext cx="58978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Shape 18"/>
          <p:cNvSpPr/>
          <p:nvPr/>
        </p:nvSpPr>
        <p:spPr>
          <a:xfrm>
            <a:off x="5989320" y="5468112"/>
            <a:ext cx="164592" cy="164592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19"/>
          <p:cNvSpPr txBox="1"/>
          <p:nvPr/>
        </p:nvSpPr>
        <p:spPr>
          <a:xfrm>
            <a:off x="6217920" y="5413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high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406640" y="5468112"/>
            <a:ext cx="164592" cy="164592"/>
          </a:xfrm>
          <a:prstGeom prst="ellipse">
            <a:avLst/>
          </a:prstGeom>
          <a:solidFill>
            <a:srgbClr val="E8862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1"/>
          <p:cNvSpPr txBox="1"/>
          <p:nvPr/>
        </p:nvSpPr>
        <p:spPr>
          <a:xfrm>
            <a:off x="7635240" y="5413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normal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5943600" y="571500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food-borne infections — EHEC +28%, Campylobacter +24% year to date. Influenza = 53 off-season cases: an early signal, not an outbreak.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FD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~1:50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we’ll show, </a:t>
            </a:r>
            <a:r>
              <a:rPr lang="en-US" sz="3400" b="1" dirty="0">
                <a:solidFill>
                  <a:srgbClr val="5DA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order.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1E2E52"/>
          </a:solidFill>
          <a:ln w="12700">
            <a:solidFill>
              <a:srgbClr val="2D417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822960" cy="822960"/>
          </a:xfrm>
          <a:prstGeom prst="ellipse">
            <a:avLst/>
          </a:prstGeom>
          <a:solidFill>
            <a:srgbClr val="5DA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2631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page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buttons, one per stakeholder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8288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1E2E52"/>
          </a:solidFill>
          <a:ln w="12700">
            <a:solidFill>
              <a:srgbClr val="2D417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3566160" y="2057400"/>
            <a:ext cx="822960" cy="822960"/>
          </a:xfrm>
          <a:prstGeom prst="ellipse">
            <a:avLst/>
          </a:prstGeom>
          <a:solidFill>
            <a:srgbClr val="1A9E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22631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1208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 → level table → one trend chart → cantons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26480" y="18288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1E2E52"/>
          </a:solidFill>
          <a:ln w="12700">
            <a:solidFill>
              <a:srgbClr val="2D417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Shape 13"/>
          <p:cNvSpPr/>
          <p:nvPr/>
        </p:nvSpPr>
        <p:spPr>
          <a:xfrm>
            <a:off x="6400800" y="2057400"/>
            <a:ext cx="822960" cy="822960"/>
          </a:xfrm>
          <a:prstGeom prst="ellipse">
            <a:avLst/>
          </a:prstGeom>
          <a:solidFill>
            <a:srgbClr val="2F6F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22631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4672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→ methods → “Show code”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961120" y="18288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1E2E52"/>
          </a:solidFill>
          <a:ln w="12700">
            <a:solidFill>
              <a:srgbClr val="2D417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Shape 18"/>
          <p:cNvSpPr/>
          <p:nvPr/>
        </p:nvSpPr>
        <p:spPr>
          <a:xfrm>
            <a:off x="9235440" y="2057400"/>
            <a:ext cx="822960" cy="822960"/>
          </a:xfrm>
          <a:prstGeom prst="ellipse">
            <a:avLst/>
          </a:prstGeom>
          <a:solidFill>
            <a:srgbClr val="F2B3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1180" y="226314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88136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23544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923544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record · download JSON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57200" y="4937760"/>
            <a:ext cx="11247120" cy="822960"/>
          </a:xfrm>
          <a:prstGeom prst="roundRect">
            <a:avLst>
              <a:gd name="adj" fmla="val 13333"/>
            </a:avLst>
          </a:prstGeom>
          <a:solidFill>
            <a:srgbClr val="1E2E52"/>
          </a:solidFill>
          <a:ln w="12700">
            <a:solidFill>
              <a:srgbClr val="F2B33D"/>
            </a:solidFill>
            <a:prstDash val="dash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3"/>
          <p:cNvSpPr/>
          <p:nvPr/>
        </p:nvSpPr>
        <p:spPr>
          <a:xfrm>
            <a:off x="640080" y="5029200"/>
            <a:ext cx="640080" cy="640080"/>
          </a:xfrm>
          <a:prstGeom prst="ellipse">
            <a:avLst/>
          </a:prstGeom>
          <a:solidFill>
            <a:srgbClr val="F2B3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518922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63040" y="4937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buttons: </a:t>
            </a:r>
            <a:r>
              <a:rPr lang="en-US" sz="14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Marimo panel picks audience + diseases and dispatches a GitHub Actions run — the run is the audit trail (inputs, data version, commit).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EA0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E8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 &amp;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</a:t>
            </a:r>
            <a:r>
              <a:rPr lang="en-US" sz="3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claim.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reports are descriptive — and every limit here is also written in the reports.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640080" cy="640080"/>
          </a:xfrm>
          <a:prstGeom prst="ellipse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3545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≠ all infections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3101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depend on who is tested and reported; GP figures are sample-based estimates.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51960" y="201168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4480560" y="2194560"/>
            <a:ext cx="640080" cy="640080"/>
          </a:xfrm>
          <a:prstGeom prst="ellipse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3545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 testing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33101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compare with past years; small counts can flip level on a handful of cases. COVID-19 window includes pandemic years.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201168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8275320" y="2194560"/>
            <a:ext cx="640080" cy="640080"/>
          </a:xfrm>
          <a:prstGeom prst="ellipse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23545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official guidance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33101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hackathon prototype on FOPH open data, not an FOPH publication.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E8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48920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EAF5E4"/>
          </a:solidFill>
          <a:ln w="12700">
            <a:solidFill>
              <a:srgbClr val="CFE6C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Shape 17"/>
          <p:cNvSpPr/>
          <p:nvPr/>
        </p:nvSpPr>
        <p:spPr>
          <a:xfrm>
            <a:off x="594360" y="5029200"/>
            <a:ext cx="594360" cy="594360"/>
          </a:xfrm>
          <a:prstGeom prst="ellipse">
            <a:avLst/>
          </a:prstGeom>
          <a:solidFill>
            <a:srgbClr val="5DA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517779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25880" y="48920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+ lab positivity as early warning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3291840" y="48920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EAF5E4"/>
          </a:solidFill>
          <a:ln w="12700">
            <a:solidFill>
              <a:srgbClr val="CFE6C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Shape 20"/>
          <p:cNvSpPr/>
          <p:nvPr/>
        </p:nvSpPr>
        <p:spPr>
          <a:xfrm>
            <a:off x="3429000" y="5029200"/>
            <a:ext cx="594360" cy="594360"/>
          </a:xfrm>
          <a:prstGeom prst="ellipse">
            <a:avLst/>
          </a:prstGeom>
          <a:solidFill>
            <a:srgbClr val="5DA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7590" y="5177790"/>
            <a:ext cx="297180" cy="2971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160520" y="48920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audiences: clinicians, cantons, public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126480" y="48920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EAF5E4"/>
          </a:solidFill>
          <a:ln w="12700">
            <a:solidFill>
              <a:srgbClr val="CFE6C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Shape 23"/>
          <p:cNvSpPr/>
          <p:nvPr/>
        </p:nvSpPr>
        <p:spPr>
          <a:xfrm>
            <a:off x="6263640" y="5029200"/>
            <a:ext cx="594360" cy="594360"/>
          </a:xfrm>
          <a:prstGeom prst="ellipse">
            <a:avLst/>
          </a:prstGeom>
          <a:solidFill>
            <a:srgbClr val="5DA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230" y="517779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995160" y="48920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· FR · IT reports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8961120" y="48920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EAF5E4"/>
          </a:solidFill>
          <a:ln w="12700">
            <a:solidFill>
              <a:srgbClr val="CFE6C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26"/>
          <p:cNvSpPr/>
          <p:nvPr/>
        </p:nvSpPr>
        <p:spPr>
          <a:xfrm>
            <a:off x="9098280" y="5029200"/>
            <a:ext cx="594360" cy="594360"/>
          </a:xfrm>
          <a:prstGeom prst="ellipse">
            <a:avLst/>
          </a:prstGeom>
          <a:solidFill>
            <a:srgbClr val="5DA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6870" y="5177790"/>
            <a:ext cx="297180" cy="29718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829800" y="48920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trigger on-demand runs</a:t>
            </a:r>
            <a:endParaRPr lang="en-US" sz="12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E8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</a:t>
            </a:r>
            <a:r>
              <a:rPr lang="en-US" sz="4000" b="1" dirty="0">
                <a:solidFill>
                  <a:srgbClr val="5DA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 is a workflow anyone can re-run — with a report for each audience at the end.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731520" cy="731520"/>
          </a:xfrm>
          <a:prstGeom prst="ellipse">
            <a:avLst/>
          </a:prstGeom>
          <a:solidFill>
            <a:srgbClr val="5DA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1762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table, every report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542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reports agree because they cannot disagree.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108960"/>
            <a:ext cx="731520" cy="731520"/>
          </a:xfrm>
          <a:prstGeom prst="ellipse">
            <a:avLst/>
          </a:prstGeom>
          <a:solidFill>
            <a:srgbClr val="2F6F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91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3136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audience = new template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3502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pipeline to maintain.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4069080"/>
            <a:ext cx="731520" cy="731520"/>
          </a:xfrm>
          <a:prstGeom prst="ellipse">
            <a:avLst/>
          </a:prstGeom>
          <a:solidFill>
            <a:srgbClr val="E886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519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4096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states its origin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44622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data, which code, which settings.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949440" y="2148840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Shape 13"/>
          <p:cNvSpPr/>
          <p:nvPr/>
        </p:nvSpPr>
        <p:spPr>
          <a:xfrm>
            <a:off x="7086600" y="2240280"/>
            <a:ext cx="594360" cy="594360"/>
          </a:xfrm>
          <a:prstGeom prst="ellipse">
            <a:avLst/>
          </a:prstGeom>
          <a:solidFill>
            <a:srgbClr val="5DAE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5190" y="2388870"/>
            <a:ext cx="297180" cy="2971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8638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 E. Baumann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86384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949440" y="3108960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Shape 17"/>
          <p:cNvSpPr/>
          <p:nvPr/>
        </p:nvSpPr>
        <p:spPr>
          <a:xfrm>
            <a:off x="7086600" y="3200400"/>
            <a:ext cx="594360" cy="594360"/>
          </a:xfrm>
          <a:prstGeom prst="ellipse">
            <a:avLst/>
          </a:prstGeom>
          <a:solidFill>
            <a:srgbClr val="2F6F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5190" y="3348990"/>
            <a:ext cx="297180" cy="2971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8638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Lavanya Ranganathan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8638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949440" y="4069080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F1F5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Shape 21"/>
          <p:cNvSpPr/>
          <p:nvPr/>
        </p:nvSpPr>
        <p:spPr>
          <a:xfrm>
            <a:off x="7086600" y="4160520"/>
            <a:ext cx="594360" cy="594360"/>
          </a:xfrm>
          <a:prstGeom prst="ellipse">
            <a:avLst/>
          </a:prstGeom>
          <a:solidFill>
            <a:srgbClr val="E886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5190" y="4309110"/>
            <a:ext cx="297180" cy="29718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8638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Nisha Suthar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786384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5166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5DA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544068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36092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github.com/LarsEBaumann/Health_Report_Generator</a:t>
            </a:r>
            <a:endParaRPr lang="en-US" sz="11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1568</Words>
  <Application>Microsoft Macintosh PowerPoint</Application>
  <PresentationFormat>Widescreen</PresentationFormat>
  <Paragraphs>167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Report Generator</dc:title>
  <dc:subject>PptxGenJS Presentation</dc:subject>
  <dc:creator>PptxGenJS</dc:creator>
  <cp:lastModifiedBy>Lavanya Ranganathan</cp:lastModifiedBy>
  <cp:revision>4</cp:revision>
  <dcterms:created xsi:type="dcterms:W3CDTF">2026-10-04T11:10:18Z</dcterms:created>
  <dcterms:modified xsi:type="dcterms:W3CDTF">2026-10-04T13:42:03Z</dcterms:modified>
</cp:coreProperties>
</file>